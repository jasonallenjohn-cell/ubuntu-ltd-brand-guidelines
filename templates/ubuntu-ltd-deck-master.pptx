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4A04A"/>
                </a:solidFill>
                <a:latin typeface="Consolas"/>
              </a:rPr>
              <a:t>LAND TRUST &amp; DEVELOPMENTS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4114800"/>
            <a:ext cx="7315200" cy="0"/>
          </a:xfrm>
          <a:prstGeom prst="line">
            <a:avLst/>
          </a:prstGeom>
          <a:ln w="9525">
            <a:solidFill>
              <a:srgbClr val="EBD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3891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EBDFC4"/>
                </a:solidFill>
                <a:latin typeface="Georgia"/>
              </a:rPr>
              <a:t>[Deck title goes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PRESENTED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BDFC4"/>
                </a:solidFill>
                <a:latin typeface="Georgia"/>
              </a:rPr>
              <a:t>[Audience]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943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BDFC4"/>
                </a:solidFill>
                <a:latin typeface="Consolas"/>
              </a:rPr>
              <a:t>[YYYY-MM-DD]  · 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943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AUTHOR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Jonathan Okubay  · 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0" i="1">
                <a:solidFill>
                  <a:srgbClr val="D4A04A"/>
                </a:solidFill>
                <a:latin typeface="Georgia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3291840"/>
            <a:ext cx="10515600" cy="0"/>
          </a:xfrm>
          <a:prstGeom prst="line">
            <a:avLst/>
          </a:prstGeom>
          <a:ln w="1270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A2D22"/>
                </a:solidFill>
                <a:latin typeface="Consolas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161210"/>
                </a:solidFill>
                <a:latin typeface="Georgia"/>
              </a:rPr>
              <a:t>The four-step mechanic.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02 / 18                    UBT-26-001-DECK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03  ·  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61210"/>
                </a:solidFill>
                <a:latin typeface="Georgia"/>
              </a:rPr>
              <a:t>Land contributed as equity is land that carries the math.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A private landowner contributes an entitled site into a project-level SPV as preferred-equity contribution — not a sale, not a donation. A mission-aligned non-profit operator owns the building entity from day one of occupancy, with no upfront capital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74320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CMHC and Build Canada Homes finance construction on institution-grade terms. At Year 20, mortgage paydown together with retained equity fund a fair-value redemption for the landowner — and the non-profit acquires the land fee-simple.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03 / 18                    UBT-26-001-DECK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04  ·  PIPELINE  ·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61210"/>
                </a:solidFill>
                <a:latin typeface="Georgia"/>
              </a:rPr>
              <a:t>Eighteen sites. Five thousand homes.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60320"/>
            <a:ext cx="6350" cy="182880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161210"/>
                </a:solidFill>
                <a:latin typeface="Georgia"/>
              </a:rPr>
              <a:t>5,131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A2D22"/>
                </a:solidFill>
                <a:latin typeface="Consolas"/>
              </a:rPr>
              <a:t>HOMES IN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560320"/>
            <a:ext cx="6350" cy="182880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161210"/>
                </a:solidFill>
                <a:latin typeface="Georgi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931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A2D22"/>
                </a:solidFill>
                <a:latin typeface="Consolas"/>
              </a:rPr>
              <a:t>ENTITLED SITES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560320"/>
            <a:ext cx="6350" cy="182880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161210"/>
                </a:solidFill>
                <a:latin typeface="Georgia"/>
              </a:rPr>
              <a:t>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A2D22"/>
                </a:solidFill>
                <a:latin typeface="Consolas"/>
              </a:rPr>
              <a:t>LAUNCHPAD UNITS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560320"/>
            <a:ext cx="6350" cy="182880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60320"/>
            <a:ext cx="2651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161210"/>
                </a:solidFill>
                <a:latin typeface="Georgia"/>
              </a:rPr>
              <a:t>$3.5B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931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A2D22"/>
                </a:solidFill>
                <a:latin typeface="Consolas"/>
              </a:rPr>
              <a:t>EST. DEV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69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SOURCE  ·  UBUNTU LTD PIPELINE LEDGER, MAY 2026  ·  AUDITED INTERNALLY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04 / 18                    UBT-26-001-DECK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D4A04A"/>
                </a:solidFill>
                <a:latin typeface="Consolas"/>
              </a:rPr>
              <a:t>— THANK YOU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D4A04A"/>
                </a:solidFill>
                <a:latin typeface="Consolas"/>
              </a:rPr>
              <a:t>LAND TRUST &amp; DEVELOPMENTS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Unlocking land for affordable housing at scale across Canada.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BDFC4"/>
                </a:solidFill>
                <a:latin typeface="Consolas"/>
              </a:rPr>
              <a:t>INFO@UBUNTULTD.COM     ·     UBUNTULTD.COM     ·     TORONTO,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