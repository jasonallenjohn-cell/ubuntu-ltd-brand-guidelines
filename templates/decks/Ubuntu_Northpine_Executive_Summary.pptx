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16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10972800" cy="274320"/>
          </a:xfrm>
          <a:prstGeom prst="rect">
            <a:avLst/>
          </a:prstGeom>
          <a:noFill/>
        </p:spPr>
        <p:txBody>
          <a:bodyPr wrap="square" lIns="0" rIns="0" tIns="0" bIns="0" anchor="t">
            <a:spAutoFit/>
          </a:bodyPr>
          <a:lstStyle/>
          <a:p>
            <a:pPr algn="ctr">
              <a:lnSpc>
                <a:spcPct val="120000"/>
              </a:lnSpc>
            </a:pPr>
            <a:r>
              <a:rPr sz="1000" b="0" i="0">
                <a:solidFill>
                  <a:srgbClr val="D4A04A"/>
                </a:solidFill>
                <a:latin typeface="Consolas"/>
              </a:rPr>
              <a:t>UBUNTU LTD  ·  THE NORTHPINE FOUNDATION  ·  EXECUTIVE SUMMARY</a:t>
            </a:r>
          </a:p>
        </p:txBody>
      </p:sp>
      <p:sp>
        <p:nvSpPr>
          <p:cNvPr id="4" name="TextBox 3"/>
          <p:cNvSpPr txBox="1"/>
          <p:nvPr/>
        </p:nvSpPr>
        <p:spPr>
          <a:xfrm>
            <a:off x="548640" y="1005840"/>
            <a:ext cx="10972800" cy="548640"/>
          </a:xfrm>
          <a:prstGeom prst="rect">
            <a:avLst/>
          </a:prstGeom>
          <a:noFill/>
        </p:spPr>
        <p:txBody>
          <a:bodyPr wrap="square" lIns="0" rIns="0" tIns="0" bIns="0" anchor="t">
            <a:spAutoFit/>
          </a:bodyPr>
          <a:lstStyle/>
          <a:p>
            <a:pPr algn="ctr">
              <a:lnSpc>
                <a:spcPct val="100000"/>
              </a:lnSpc>
            </a:pPr>
            <a:r>
              <a:rPr sz="4000" b="0" i="0">
                <a:solidFill>
                  <a:srgbClr val="EBDFC4"/>
                </a:solidFill>
                <a:latin typeface="Georgia"/>
              </a:rPr>
              <a:t>Ubuntu</a:t>
            </a:r>
          </a:p>
        </p:txBody>
      </p:sp>
      <p:sp>
        <p:nvSpPr>
          <p:cNvPr id="5" name="TextBox 4"/>
          <p:cNvSpPr txBox="1"/>
          <p:nvPr/>
        </p:nvSpPr>
        <p:spPr>
          <a:xfrm>
            <a:off x="548640" y="1600200"/>
            <a:ext cx="10972800" cy="274320"/>
          </a:xfrm>
          <a:prstGeom prst="rect">
            <a:avLst/>
          </a:prstGeom>
          <a:noFill/>
        </p:spPr>
        <p:txBody>
          <a:bodyPr wrap="square" lIns="0" rIns="0" tIns="0" bIns="0" anchor="t">
            <a:spAutoFit/>
          </a:bodyPr>
          <a:lstStyle/>
          <a:p>
            <a:pPr algn="ctr">
              <a:lnSpc>
                <a:spcPct val="120000"/>
              </a:lnSpc>
            </a:pPr>
            <a:r>
              <a:rPr sz="1000" b="0" i="0">
                <a:solidFill>
                  <a:srgbClr val="D4A04A"/>
                </a:solidFill>
                <a:latin typeface="Consolas"/>
              </a:rPr>
              <a:t>LAND TRUST &amp; DEVELOPMENTS</a:t>
            </a:r>
          </a:p>
        </p:txBody>
      </p:sp>
      <p:sp>
        <p:nvSpPr>
          <p:cNvPr id="6" name="TextBox 5"/>
          <p:cNvSpPr txBox="1"/>
          <p:nvPr/>
        </p:nvSpPr>
        <p:spPr>
          <a:xfrm>
            <a:off x="548640" y="2468880"/>
            <a:ext cx="10972800" cy="1097280"/>
          </a:xfrm>
          <a:prstGeom prst="rect">
            <a:avLst/>
          </a:prstGeom>
          <a:noFill/>
        </p:spPr>
        <p:txBody>
          <a:bodyPr wrap="square" lIns="0" rIns="0" tIns="0" bIns="0" anchor="t">
            <a:spAutoFit/>
          </a:bodyPr>
          <a:lstStyle/>
          <a:p>
            <a:pPr algn="ctr">
              <a:lnSpc>
                <a:spcPct val="105000"/>
              </a:lnSpc>
            </a:pPr>
            <a:r>
              <a:rPr sz="5800" b="0" i="0">
                <a:solidFill>
                  <a:srgbClr val="EBDFC4"/>
                </a:solidFill>
                <a:latin typeface="Georgia"/>
              </a:rPr>
              <a:t>$2,000,000 activates</a:t>
            </a:r>
          </a:p>
        </p:txBody>
      </p:sp>
      <p:sp>
        <p:nvSpPr>
          <p:cNvPr id="7" name="TextBox 6"/>
          <p:cNvSpPr txBox="1"/>
          <p:nvPr/>
        </p:nvSpPr>
        <p:spPr>
          <a:xfrm>
            <a:off x="548640" y="3246120"/>
            <a:ext cx="10972800" cy="1097280"/>
          </a:xfrm>
          <a:prstGeom prst="rect">
            <a:avLst/>
          </a:prstGeom>
          <a:noFill/>
        </p:spPr>
        <p:txBody>
          <a:bodyPr wrap="square" lIns="0" rIns="0" tIns="0" bIns="0" anchor="t">
            <a:spAutoFit/>
          </a:bodyPr>
          <a:lstStyle/>
          <a:p>
            <a:pPr algn="ctr">
              <a:lnSpc>
                <a:spcPct val="105000"/>
              </a:lnSpc>
            </a:pPr>
            <a:r>
              <a:rPr sz="5800" b="0" i="1">
                <a:solidFill>
                  <a:srgbClr val="D4A04A"/>
                </a:solidFill>
                <a:latin typeface="Georgia"/>
              </a:rPr>
              <a:t>5,623 homes.</a:t>
            </a:r>
          </a:p>
        </p:txBody>
      </p:sp>
      <p:sp>
        <p:nvSpPr>
          <p:cNvPr id="8" name="TextBox 7"/>
          <p:cNvSpPr txBox="1"/>
          <p:nvPr/>
        </p:nvSpPr>
        <p:spPr>
          <a:xfrm>
            <a:off x="548640" y="4297680"/>
            <a:ext cx="10972800" cy="548640"/>
          </a:xfrm>
          <a:prstGeom prst="rect">
            <a:avLst/>
          </a:prstGeom>
          <a:noFill/>
        </p:spPr>
        <p:txBody>
          <a:bodyPr wrap="square" lIns="0" rIns="0" tIns="0" bIns="0" anchor="t">
            <a:spAutoFit/>
          </a:bodyPr>
          <a:lstStyle/>
          <a:p>
            <a:pPr algn="ctr">
              <a:lnSpc>
                <a:spcPct val="140000"/>
              </a:lnSpc>
            </a:pPr>
            <a:r>
              <a:rPr sz="1500" b="0" i="1">
                <a:solidFill>
                  <a:srgbClr val="EBDFC4"/>
                </a:solidFill>
                <a:latin typeface="Georgia"/>
              </a:rPr>
              <a:t>A one-time platform infrastructure investment that activates the</a:t>
            </a:r>
          </a:p>
        </p:txBody>
      </p:sp>
      <p:sp>
        <p:nvSpPr>
          <p:cNvPr id="9" name="TextBox 8"/>
          <p:cNvSpPr txBox="1"/>
          <p:nvPr/>
        </p:nvSpPr>
        <p:spPr>
          <a:xfrm>
            <a:off x="548640" y="4572000"/>
            <a:ext cx="10972800" cy="548640"/>
          </a:xfrm>
          <a:prstGeom prst="rect">
            <a:avLst/>
          </a:prstGeom>
          <a:noFill/>
        </p:spPr>
        <p:txBody>
          <a:bodyPr wrap="square" lIns="0" rIns="0" tIns="0" bIns="0" anchor="t">
            <a:spAutoFit/>
          </a:bodyPr>
          <a:lstStyle/>
          <a:p>
            <a:pPr algn="ctr">
              <a:lnSpc>
                <a:spcPct val="140000"/>
              </a:lnSpc>
            </a:pPr>
            <a:r>
              <a:rPr sz="1500" b="0" i="1">
                <a:solidFill>
                  <a:srgbClr val="EBDFC4"/>
                </a:solidFill>
                <a:latin typeface="Georgia"/>
              </a:rPr>
              <a:t>Common Ground Initiative across 21 entitled sites in Canada.</a:t>
            </a:r>
          </a:p>
        </p:txBody>
      </p:sp>
      <p:sp>
        <p:nvSpPr>
          <p:cNvPr id="10" name="TextBox 9"/>
          <p:cNvSpPr txBox="1"/>
          <p:nvPr/>
        </p:nvSpPr>
        <p:spPr>
          <a:xfrm>
            <a:off x="548640" y="5486400"/>
            <a:ext cx="10972800" cy="274320"/>
          </a:xfrm>
          <a:prstGeom prst="rect">
            <a:avLst/>
          </a:prstGeom>
          <a:noFill/>
        </p:spPr>
        <p:txBody>
          <a:bodyPr wrap="square" lIns="0" rIns="0" tIns="0" bIns="0" anchor="t">
            <a:spAutoFit/>
          </a:bodyPr>
          <a:lstStyle/>
          <a:p>
            <a:pPr algn="ctr">
              <a:lnSpc>
                <a:spcPct val="120000"/>
              </a:lnSpc>
            </a:pPr>
            <a:r>
              <a:rPr sz="900" b="0" i="0">
                <a:solidFill>
                  <a:srgbClr val="D4A04A"/>
                </a:solidFill>
                <a:latin typeface="Consolas"/>
              </a:rPr>
              <a:t>5,623 HOMES  ·  21 SITES  ·  906 LAUNCHPAD · 2026 GROUND-BREAK  ·  SELF-SUSTAINING MONTH 24</a:t>
            </a:r>
          </a:p>
        </p:txBody>
      </p:sp>
      <p:sp>
        <p:nvSpPr>
          <p:cNvPr id="11" name="TextBox 10"/>
          <p:cNvSpPr txBox="1"/>
          <p:nvPr/>
        </p:nvSpPr>
        <p:spPr>
          <a:xfrm>
            <a:off x="548640" y="6126480"/>
            <a:ext cx="3657600" cy="274320"/>
          </a:xfrm>
          <a:prstGeom prst="rect">
            <a:avLst/>
          </a:prstGeom>
          <a:noFill/>
        </p:spPr>
        <p:txBody>
          <a:bodyPr wrap="square" lIns="0" rIns="0" tIns="0" bIns="0" anchor="t">
            <a:spAutoFit/>
          </a:bodyPr>
          <a:lstStyle/>
          <a:p>
            <a:pPr algn="l">
              <a:lnSpc>
                <a:spcPct val="120000"/>
              </a:lnSpc>
            </a:pPr>
            <a:r>
              <a:rPr sz="800" b="0" i="0">
                <a:solidFill>
                  <a:srgbClr val="D4A04A"/>
                </a:solidFill>
                <a:latin typeface="Consolas"/>
              </a:rPr>
              <a:t>PREPARED FOR</a:t>
            </a:r>
          </a:p>
        </p:txBody>
      </p:sp>
      <p:sp>
        <p:nvSpPr>
          <p:cNvPr id="12" name="TextBox 11"/>
          <p:cNvSpPr txBox="1"/>
          <p:nvPr/>
        </p:nvSpPr>
        <p:spPr>
          <a:xfrm>
            <a:off x="548640" y="6336792"/>
            <a:ext cx="3657600" cy="274320"/>
          </a:xfrm>
          <a:prstGeom prst="rect">
            <a:avLst/>
          </a:prstGeom>
          <a:noFill/>
        </p:spPr>
        <p:txBody>
          <a:bodyPr wrap="square" lIns="0" rIns="0" tIns="0" bIns="0" anchor="t">
            <a:spAutoFit/>
          </a:bodyPr>
          <a:lstStyle/>
          <a:p>
            <a:pPr algn="l">
              <a:lnSpc>
                <a:spcPct val="120000"/>
              </a:lnSpc>
            </a:pPr>
            <a:r>
              <a:rPr sz="1100" b="0" i="1">
                <a:solidFill>
                  <a:srgbClr val="EBDFC4"/>
                </a:solidFill>
                <a:latin typeface="Georgia"/>
              </a:rPr>
              <a:t>The Northpine Foundation</a:t>
            </a:r>
          </a:p>
        </p:txBody>
      </p:sp>
      <p:sp>
        <p:nvSpPr>
          <p:cNvPr id="13" name="TextBox 12"/>
          <p:cNvSpPr txBox="1"/>
          <p:nvPr/>
        </p:nvSpPr>
        <p:spPr>
          <a:xfrm>
            <a:off x="5120640" y="6126480"/>
            <a:ext cx="2743200" cy="274320"/>
          </a:xfrm>
          <a:prstGeom prst="rect">
            <a:avLst/>
          </a:prstGeom>
          <a:noFill/>
        </p:spPr>
        <p:txBody>
          <a:bodyPr wrap="square" lIns="0" rIns="0" tIns="0" bIns="0" anchor="t">
            <a:spAutoFit/>
          </a:bodyPr>
          <a:lstStyle/>
          <a:p>
            <a:pPr algn="l">
              <a:lnSpc>
                <a:spcPct val="120000"/>
              </a:lnSpc>
            </a:pPr>
            <a:r>
              <a:rPr sz="800" b="0" i="0">
                <a:solidFill>
                  <a:srgbClr val="D4A04A"/>
                </a:solidFill>
                <a:latin typeface="Consolas"/>
              </a:rPr>
              <a:t>DATE</a:t>
            </a:r>
          </a:p>
        </p:txBody>
      </p:sp>
      <p:sp>
        <p:nvSpPr>
          <p:cNvPr id="14" name="TextBox 13"/>
          <p:cNvSpPr txBox="1"/>
          <p:nvPr/>
        </p:nvSpPr>
        <p:spPr>
          <a:xfrm>
            <a:off x="5120640" y="6336792"/>
            <a:ext cx="2743200" cy="274320"/>
          </a:xfrm>
          <a:prstGeom prst="rect">
            <a:avLst/>
          </a:prstGeom>
          <a:noFill/>
        </p:spPr>
        <p:txBody>
          <a:bodyPr wrap="square" lIns="0" rIns="0" tIns="0" bIns="0" anchor="t">
            <a:spAutoFit/>
          </a:bodyPr>
          <a:lstStyle/>
          <a:p>
            <a:pPr algn="l">
              <a:lnSpc>
                <a:spcPct val="120000"/>
              </a:lnSpc>
            </a:pPr>
            <a:r>
              <a:rPr sz="1000" b="0" i="0">
                <a:solidFill>
                  <a:srgbClr val="EBDFC4"/>
                </a:solidFill>
                <a:latin typeface="Consolas"/>
              </a:rPr>
              <a:t>May 2026  ·  v1.0</a:t>
            </a:r>
          </a:p>
        </p:txBody>
      </p:sp>
      <p:sp>
        <p:nvSpPr>
          <p:cNvPr id="15" name="TextBox 14"/>
          <p:cNvSpPr txBox="1"/>
          <p:nvPr/>
        </p:nvSpPr>
        <p:spPr>
          <a:xfrm>
            <a:off x="8229600" y="6126480"/>
            <a:ext cx="3657600" cy="274320"/>
          </a:xfrm>
          <a:prstGeom prst="rect">
            <a:avLst/>
          </a:prstGeom>
          <a:noFill/>
        </p:spPr>
        <p:txBody>
          <a:bodyPr wrap="square" lIns="0" rIns="0" tIns="0" bIns="0" anchor="t">
            <a:spAutoFit/>
          </a:bodyPr>
          <a:lstStyle/>
          <a:p>
            <a:pPr algn="l">
              <a:lnSpc>
                <a:spcPct val="120000"/>
              </a:lnSpc>
            </a:pPr>
            <a:r>
              <a:rPr sz="800" b="0" i="0">
                <a:solidFill>
                  <a:srgbClr val="D4A04A"/>
                </a:solidFill>
                <a:latin typeface="Consolas"/>
              </a:rPr>
              <a:t>PREPARED BY</a:t>
            </a:r>
          </a:p>
        </p:txBody>
      </p:sp>
      <p:sp>
        <p:nvSpPr>
          <p:cNvPr id="16" name="TextBox 15"/>
          <p:cNvSpPr txBox="1"/>
          <p:nvPr/>
        </p:nvSpPr>
        <p:spPr>
          <a:xfrm>
            <a:off x="8229600" y="6336792"/>
            <a:ext cx="3657600" cy="274320"/>
          </a:xfrm>
          <a:prstGeom prst="rect">
            <a:avLst/>
          </a:prstGeom>
          <a:noFill/>
        </p:spPr>
        <p:txBody>
          <a:bodyPr wrap="square" lIns="0" rIns="0" tIns="0" bIns="0" anchor="t">
            <a:spAutoFit/>
          </a:bodyPr>
          <a:lstStyle/>
          <a:p>
            <a:pPr algn="l">
              <a:lnSpc>
                <a:spcPct val="120000"/>
              </a:lnSpc>
            </a:pPr>
            <a:r>
              <a:rPr sz="1100" b="0" i="1">
                <a:solidFill>
                  <a:srgbClr val="EBDFC4"/>
                </a:solidFill>
                <a:latin typeface="Georgia"/>
              </a:rPr>
              <a:t>Jonathan Okubay  ·  MD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BD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0058400" cy="274320"/>
          </a:xfrm>
          <a:prstGeom prst="rect">
            <a:avLst/>
          </a:prstGeom>
          <a:noFill/>
        </p:spPr>
        <p:txBody>
          <a:bodyPr wrap="square" lIns="0" rIns="0" tIns="0" bIns="0" anchor="t">
            <a:spAutoFit/>
          </a:bodyPr>
          <a:lstStyle/>
          <a:p>
            <a:pPr algn="l">
              <a:lnSpc>
                <a:spcPct val="120000"/>
              </a:lnSpc>
            </a:pPr>
            <a:r>
              <a:rPr sz="1000" b="0" i="0">
                <a:solidFill>
                  <a:srgbClr val="D4A04A"/>
                </a:solidFill>
                <a:latin typeface="Consolas"/>
              </a:rPr>
              <a:t>01  ·  WHY THIS, WHY NOW</a:t>
            </a:r>
          </a:p>
        </p:txBody>
      </p:sp>
      <p:sp>
        <p:nvSpPr>
          <p:cNvPr id="4" name="TextBox 3"/>
          <p:cNvSpPr txBox="1"/>
          <p:nvPr/>
        </p:nvSpPr>
        <p:spPr>
          <a:xfrm>
            <a:off x="502920" y="868680"/>
            <a:ext cx="10972800" cy="1280160"/>
          </a:xfrm>
          <a:prstGeom prst="rect">
            <a:avLst/>
          </a:prstGeom>
          <a:noFill/>
        </p:spPr>
        <p:txBody>
          <a:bodyPr wrap="square" lIns="0" rIns="0" tIns="0" bIns="0" anchor="t">
            <a:spAutoFit/>
          </a:bodyPr>
          <a:lstStyle/>
          <a:p>
            <a:pPr algn="l">
              <a:lnSpc>
                <a:spcPct val="105000"/>
              </a:lnSpc>
            </a:pPr>
            <a:r>
              <a:rPr sz="4000" b="0" i="0">
                <a:solidFill>
                  <a:srgbClr val="161210"/>
                </a:solidFill>
                <a:latin typeface="Georgia"/>
              </a:rPr>
              <a:t>Public capital is real.</a:t>
            </a:r>
          </a:p>
        </p:txBody>
      </p:sp>
      <p:sp>
        <p:nvSpPr>
          <p:cNvPr id="5" name="TextBox 4"/>
          <p:cNvSpPr txBox="1"/>
          <p:nvPr/>
        </p:nvSpPr>
        <p:spPr>
          <a:xfrm>
            <a:off x="502920" y="1417320"/>
            <a:ext cx="10972800" cy="1280160"/>
          </a:xfrm>
          <a:prstGeom prst="rect">
            <a:avLst/>
          </a:prstGeom>
          <a:noFill/>
        </p:spPr>
        <p:txBody>
          <a:bodyPr wrap="square" lIns="0" rIns="0" tIns="0" bIns="0" anchor="t">
            <a:spAutoFit/>
          </a:bodyPr>
          <a:lstStyle/>
          <a:p>
            <a:pPr algn="l">
              <a:lnSpc>
                <a:spcPct val="105000"/>
              </a:lnSpc>
            </a:pPr>
            <a:r>
              <a:rPr sz="4000" b="0" i="1">
                <a:solidFill>
                  <a:srgbClr val="D4A04A"/>
                </a:solidFill>
                <a:latin typeface="Georgia"/>
              </a:rPr>
              <a:t>Coordination isn't.</a:t>
            </a:r>
          </a:p>
        </p:txBody>
      </p:sp>
      <p:sp>
        <p:nvSpPr>
          <p:cNvPr id="6" name="TextBox 5"/>
          <p:cNvSpPr txBox="1"/>
          <p:nvPr/>
        </p:nvSpPr>
        <p:spPr>
          <a:xfrm>
            <a:off x="502920" y="2788920"/>
            <a:ext cx="5303520" cy="2194560"/>
          </a:xfrm>
          <a:prstGeom prst="rect">
            <a:avLst/>
          </a:prstGeom>
          <a:noFill/>
        </p:spPr>
        <p:txBody>
          <a:bodyPr wrap="square" lIns="0" rIns="0" tIns="0" bIns="0" anchor="t">
            <a:spAutoFit/>
          </a:bodyPr>
          <a:lstStyle/>
          <a:p>
            <a:pPr algn="l">
              <a:lnSpc>
                <a:spcPct val="150000"/>
              </a:lnSpc>
            </a:pPr>
            <a:r>
              <a:rPr sz="1400" b="0" i="0">
                <a:solidFill>
                  <a:srgbClr val="3A2D22"/>
                </a:solidFill>
                <a:latin typeface="Georgia"/>
              </a:rPr>
              <a:t>Canada's housing crisis is not a shortage of land or capital. It is a structural misalignment between three ingredients: private landowners with entitled sites they cannot develop, non-profits with the mission but no balance sheet, and federal capital waiting for someone to structure the deal.</a:t>
            </a:r>
          </a:p>
        </p:txBody>
      </p:sp>
      <p:sp>
        <p:nvSpPr>
          <p:cNvPr id="7" name="TextBox 6"/>
          <p:cNvSpPr txBox="1"/>
          <p:nvPr/>
        </p:nvSpPr>
        <p:spPr>
          <a:xfrm>
            <a:off x="6355080" y="2788920"/>
            <a:ext cx="5303520" cy="2194560"/>
          </a:xfrm>
          <a:prstGeom prst="rect">
            <a:avLst/>
          </a:prstGeom>
          <a:noFill/>
        </p:spPr>
        <p:txBody>
          <a:bodyPr wrap="square" lIns="0" rIns="0" tIns="0" bIns="0" anchor="t">
            <a:spAutoFit/>
          </a:bodyPr>
          <a:lstStyle/>
          <a:p>
            <a:pPr algn="l">
              <a:lnSpc>
                <a:spcPct val="150000"/>
              </a:lnSpc>
            </a:pPr>
            <a:r>
              <a:rPr sz="1400" b="0" i="0">
                <a:solidFill>
                  <a:srgbClr val="3A2D22"/>
                </a:solidFill>
                <a:latin typeface="Georgia"/>
              </a:rPr>
              <a:t>Ubuntu LTD is the coordinating platform that aligns all three. The Common Ground Initiative is the repeatable mechanic. As of May 2026, the pipeline stands at 5,623 homes across 21 entitled sites, with the 906-home Launchpad cohort breaking ground in 2026.</a:t>
            </a:r>
          </a:p>
        </p:txBody>
      </p:sp>
      <p:cxnSp>
        <p:nvCxnSpPr>
          <p:cNvPr id="8" name="Connector 7"/>
          <p:cNvCxnSpPr/>
          <p:nvPr/>
        </p:nvCxnSpPr>
        <p:spPr>
          <a:xfrm>
            <a:off x="502920" y="5257800"/>
            <a:ext cx="11155680" cy="0"/>
          </a:xfrm>
          <a:prstGeom prst="line">
            <a:avLst/>
          </a:prstGeom>
          <a:ln w="6350">
            <a:solidFill>
              <a:srgbClr val="3A2D2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2920" y="5440680"/>
            <a:ext cx="2606040" cy="548640"/>
          </a:xfrm>
          <a:prstGeom prst="rect">
            <a:avLst/>
          </a:prstGeom>
          <a:noFill/>
        </p:spPr>
        <p:txBody>
          <a:bodyPr wrap="square" lIns="0" rIns="0" tIns="0" bIns="0" anchor="t">
            <a:spAutoFit/>
          </a:bodyPr>
          <a:lstStyle/>
          <a:p>
            <a:pPr algn="l">
              <a:lnSpc>
                <a:spcPct val="100000"/>
              </a:lnSpc>
            </a:pPr>
            <a:r>
              <a:rPr sz="3200" b="0" i="0">
                <a:solidFill>
                  <a:srgbClr val="161210"/>
                </a:solidFill>
                <a:latin typeface="Georgia"/>
              </a:rPr>
              <a:t>50,000+</a:t>
            </a:r>
          </a:p>
        </p:txBody>
      </p:sp>
      <p:sp>
        <p:nvSpPr>
          <p:cNvPr id="10" name="TextBox 9"/>
          <p:cNvSpPr txBox="1"/>
          <p:nvPr/>
        </p:nvSpPr>
        <p:spPr>
          <a:xfrm>
            <a:off x="502920" y="5943600"/>
            <a:ext cx="2606040" cy="274320"/>
          </a:xfrm>
          <a:prstGeom prst="rect">
            <a:avLst/>
          </a:prstGeom>
          <a:noFill/>
        </p:spPr>
        <p:txBody>
          <a:bodyPr wrap="square" lIns="0" rIns="0" tIns="0" bIns="0" anchor="t">
            <a:spAutoFit/>
          </a:bodyPr>
          <a:lstStyle/>
          <a:p>
            <a:pPr algn="l">
              <a:lnSpc>
                <a:spcPct val="120000"/>
              </a:lnSpc>
            </a:pPr>
            <a:r>
              <a:rPr sz="800" b="0" i="0">
                <a:solidFill>
                  <a:srgbClr val="3A2D22"/>
                </a:solidFill>
                <a:latin typeface="Consolas"/>
              </a:rPr>
              <a:t>STALLED PRIVATE SITES IN CANADA</a:t>
            </a:r>
          </a:p>
        </p:txBody>
      </p:sp>
      <p:sp>
        <p:nvSpPr>
          <p:cNvPr id="11" name="TextBox 10"/>
          <p:cNvSpPr txBox="1"/>
          <p:nvPr/>
        </p:nvSpPr>
        <p:spPr>
          <a:xfrm>
            <a:off x="3383280" y="5440680"/>
            <a:ext cx="2606040" cy="548640"/>
          </a:xfrm>
          <a:prstGeom prst="rect">
            <a:avLst/>
          </a:prstGeom>
          <a:noFill/>
        </p:spPr>
        <p:txBody>
          <a:bodyPr wrap="square" lIns="0" rIns="0" tIns="0" bIns="0" anchor="t">
            <a:spAutoFit/>
          </a:bodyPr>
          <a:lstStyle/>
          <a:p>
            <a:pPr algn="l">
              <a:lnSpc>
                <a:spcPct val="100000"/>
              </a:lnSpc>
            </a:pPr>
            <a:r>
              <a:rPr sz="3200" b="0" i="0">
                <a:solidFill>
                  <a:srgbClr val="161210"/>
                </a:solidFill>
                <a:latin typeface="Georgia"/>
              </a:rPr>
              <a:t>$13B+</a:t>
            </a:r>
          </a:p>
        </p:txBody>
      </p:sp>
      <p:sp>
        <p:nvSpPr>
          <p:cNvPr id="12" name="TextBox 11"/>
          <p:cNvSpPr txBox="1"/>
          <p:nvPr/>
        </p:nvSpPr>
        <p:spPr>
          <a:xfrm>
            <a:off x="3383280" y="5943600"/>
            <a:ext cx="2606040" cy="274320"/>
          </a:xfrm>
          <a:prstGeom prst="rect">
            <a:avLst/>
          </a:prstGeom>
          <a:noFill/>
        </p:spPr>
        <p:txBody>
          <a:bodyPr wrap="square" lIns="0" rIns="0" tIns="0" bIns="0" anchor="t">
            <a:spAutoFit/>
          </a:bodyPr>
          <a:lstStyle/>
          <a:p>
            <a:pPr algn="l">
              <a:lnSpc>
                <a:spcPct val="120000"/>
              </a:lnSpc>
            </a:pPr>
            <a:r>
              <a:rPr sz="800" b="0" i="0">
                <a:solidFill>
                  <a:srgbClr val="3A2D22"/>
                </a:solidFill>
                <a:latin typeface="Consolas"/>
              </a:rPr>
              <a:t>FEDERAL HOUSING CAPITAL</a:t>
            </a:r>
          </a:p>
        </p:txBody>
      </p:sp>
      <p:sp>
        <p:nvSpPr>
          <p:cNvPr id="13" name="TextBox 12"/>
          <p:cNvSpPr txBox="1"/>
          <p:nvPr/>
        </p:nvSpPr>
        <p:spPr>
          <a:xfrm>
            <a:off x="6263640" y="5440680"/>
            <a:ext cx="2606040" cy="548640"/>
          </a:xfrm>
          <a:prstGeom prst="rect">
            <a:avLst/>
          </a:prstGeom>
          <a:noFill/>
        </p:spPr>
        <p:txBody>
          <a:bodyPr wrap="square" lIns="0" rIns="0" tIns="0" bIns="0" anchor="t">
            <a:spAutoFit/>
          </a:bodyPr>
          <a:lstStyle/>
          <a:p>
            <a:pPr algn="l">
              <a:lnSpc>
                <a:spcPct val="100000"/>
              </a:lnSpc>
            </a:pPr>
            <a:r>
              <a:rPr sz="3200" b="0" i="0">
                <a:solidFill>
                  <a:srgbClr val="161210"/>
                </a:solidFill>
                <a:latin typeface="Georgia"/>
              </a:rPr>
              <a:t>0</a:t>
            </a:r>
          </a:p>
        </p:txBody>
      </p:sp>
      <p:sp>
        <p:nvSpPr>
          <p:cNvPr id="14" name="TextBox 13"/>
          <p:cNvSpPr txBox="1"/>
          <p:nvPr/>
        </p:nvSpPr>
        <p:spPr>
          <a:xfrm>
            <a:off x="6263640" y="5943600"/>
            <a:ext cx="2606040" cy="274320"/>
          </a:xfrm>
          <a:prstGeom prst="rect">
            <a:avLst/>
          </a:prstGeom>
          <a:noFill/>
        </p:spPr>
        <p:txBody>
          <a:bodyPr wrap="square" lIns="0" rIns="0" tIns="0" bIns="0" anchor="t">
            <a:spAutoFit/>
          </a:bodyPr>
          <a:lstStyle/>
          <a:p>
            <a:pPr algn="l">
              <a:lnSpc>
                <a:spcPct val="120000"/>
              </a:lnSpc>
            </a:pPr>
            <a:r>
              <a:rPr sz="800" b="0" i="0">
                <a:solidFill>
                  <a:srgbClr val="3A2D22"/>
                </a:solidFill>
                <a:latin typeface="Consolas"/>
              </a:rPr>
              <a:t>EXISTING MECHANISMS</a:t>
            </a:r>
          </a:p>
        </p:txBody>
      </p:sp>
      <p:sp>
        <p:nvSpPr>
          <p:cNvPr id="15" name="TextBox 14"/>
          <p:cNvSpPr txBox="1"/>
          <p:nvPr/>
        </p:nvSpPr>
        <p:spPr>
          <a:xfrm>
            <a:off x="9144000" y="5440680"/>
            <a:ext cx="2606040" cy="548640"/>
          </a:xfrm>
          <a:prstGeom prst="rect">
            <a:avLst/>
          </a:prstGeom>
          <a:noFill/>
        </p:spPr>
        <p:txBody>
          <a:bodyPr wrap="square" lIns="0" rIns="0" tIns="0" bIns="0" anchor="t">
            <a:spAutoFit/>
          </a:bodyPr>
          <a:lstStyle/>
          <a:p>
            <a:pPr algn="l">
              <a:lnSpc>
                <a:spcPct val="100000"/>
              </a:lnSpc>
            </a:pPr>
            <a:r>
              <a:rPr sz="3200" b="0" i="0">
                <a:solidFill>
                  <a:srgbClr val="161210"/>
                </a:solidFill>
                <a:latin typeface="Georgia"/>
              </a:rPr>
              <a:t>21</a:t>
            </a:r>
          </a:p>
        </p:txBody>
      </p:sp>
      <p:sp>
        <p:nvSpPr>
          <p:cNvPr id="16" name="TextBox 15"/>
          <p:cNvSpPr txBox="1"/>
          <p:nvPr/>
        </p:nvSpPr>
        <p:spPr>
          <a:xfrm>
            <a:off x="9144000" y="5943600"/>
            <a:ext cx="2606040" cy="274320"/>
          </a:xfrm>
          <a:prstGeom prst="rect">
            <a:avLst/>
          </a:prstGeom>
          <a:noFill/>
        </p:spPr>
        <p:txBody>
          <a:bodyPr wrap="square" lIns="0" rIns="0" tIns="0" bIns="0" anchor="t">
            <a:spAutoFit/>
          </a:bodyPr>
          <a:lstStyle/>
          <a:p>
            <a:pPr algn="l">
              <a:lnSpc>
                <a:spcPct val="120000"/>
              </a:lnSpc>
            </a:pPr>
            <a:r>
              <a:rPr sz="800" b="0" i="0">
                <a:solidFill>
                  <a:srgbClr val="3A2D22"/>
                </a:solidFill>
                <a:latin typeface="Consolas"/>
              </a:rPr>
              <a:t>SITES UBUNTU LTD HAS SECURED</a:t>
            </a:r>
          </a:p>
        </p:txBody>
      </p:sp>
      <p:cxnSp>
        <p:nvCxnSpPr>
          <p:cNvPr id="17" name="Connector 16"/>
          <p:cNvCxnSpPr/>
          <p:nvPr/>
        </p:nvCxnSpPr>
        <p:spPr>
          <a:xfrm>
            <a:off x="502920" y="6355080"/>
            <a:ext cx="11185855" cy="0"/>
          </a:xfrm>
          <a:prstGeom prst="line">
            <a:avLst/>
          </a:prstGeom>
          <a:ln w="6350">
            <a:solidFill>
              <a:srgbClr val="16121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02920" y="6473952"/>
            <a:ext cx="7315200" cy="274320"/>
          </a:xfrm>
          <a:prstGeom prst="rect">
            <a:avLst/>
          </a:prstGeom>
          <a:noFill/>
        </p:spPr>
        <p:txBody>
          <a:bodyPr wrap="square" lIns="0" rIns="0" tIns="0" bIns="0" anchor="t">
            <a:spAutoFit/>
          </a:bodyPr>
          <a:lstStyle/>
          <a:p>
            <a:pPr algn="l">
              <a:lnSpc>
                <a:spcPct val="120000"/>
              </a:lnSpc>
            </a:pPr>
            <a:r>
              <a:rPr sz="750" b="0" i="0">
                <a:solidFill>
                  <a:srgbClr val="3A2D22"/>
                </a:solidFill>
                <a:latin typeface="Consolas"/>
              </a:rPr>
              <a:t>UBUNTU LTD  ·  NORTHPINE FOUNDATION  ·  EXECUTIVE SUMMARY</a:t>
            </a:r>
          </a:p>
        </p:txBody>
      </p:sp>
      <p:sp>
        <p:nvSpPr>
          <p:cNvPr id="19" name="TextBox 18"/>
          <p:cNvSpPr txBox="1"/>
          <p:nvPr/>
        </p:nvSpPr>
        <p:spPr>
          <a:xfrm>
            <a:off x="8534095" y="6473952"/>
            <a:ext cx="3200400" cy="274320"/>
          </a:xfrm>
          <a:prstGeom prst="rect">
            <a:avLst/>
          </a:prstGeom>
          <a:noFill/>
        </p:spPr>
        <p:txBody>
          <a:bodyPr wrap="square" lIns="0" rIns="0" tIns="0" bIns="0" anchor="t">
            <a:spAutoFit/>
          </a:bodyPr>
          <a:lstStyle/>
          <a:p>
            <a:pPr algn="r">
              <a:lnSpc>
                <a:spcPct val="120000"/>
              </a:lnSpc>
            </a:pPr>
            <a:r>
              <a:rPr sz="750" b="0" i="0">
                <a:solidFill>
                  <a:srgbClr val="3A2D22"/>
                </a:solidFill>
                <a:latin typeface="Consolas"/>
              </a:rPr>
              <a:t>02 / 05                UBT-26-001-EXS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BD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0058400" cy="274320"/>
          </a:xfrm>
          <a:prstGeom prst="rect">
            <a:avLst/>
          </a:prstGeom>
          <a:noFill/>
        </p:spPr>
        <p:txBody>
          <a:bodyPr wrap="square" lIns="0" rIns="0" tIns="0" bIns="0" anchor="t">
            <a:spAutoFit/>
          </a:bodyPr>
          <a:lstStyle/>
          <a:p>
            <a:pPr algn="l">
              <a:lnSpc>
                <a:spcPct val="120000"/>
              </a:lnSpc>
            </a:pPr>
            <a:r>
              <a:rPr sz="1000" b="0" i="0">
                <a:solidFill>
                  <a:srgbClr val="D4A04A"/>
                </a:solidFill>
                <a:latin typeface="Consolas"/>
              </a:rPr>
              <a:t>02  ·  WHAT WE'VE BUILT</a:t>
            </a:r>
          </a:p>
        </p:txBody>
      </p:sp>
      <p:sp>
        <p:nvSpPr>
          <p:cNvPr id="4" name="TextBox 3"/>
          <p:cNvSpPr txBox="1"/>
          <p:nvPr/>
        </p:nvSpPr>
        <p:spPr>
          <a:xfrm>
            <a:off x="502920" y="868680"/>
            <a:ext cx="10972800" cy="1280160"/>
          </a:xfrm>
          <a:prstGeom prst="rect">
            <a:avLst/>
          </a:prstGeom>
          <a:noFill/>
        </p:spPr>
        <p:txBody>
          <a:bodyPr wrap="square" lIns="0" rIns="0" tIns="0" bIns="0" anchor="t">
            <a:spAutoFit/>
          </a:bodyPr>
          <a:lstStyle/>
          <a:p>
            <a:pPr algn="l">
              <a:lnSpc>
                <a:spcPct val="105000"/>
              </a:lnSpc>
            </a:pPr>
            <a:r>
              <a:rPr sz="3600" b="0" i="0">
                <a:solidFill>
                  <a:srgbClr val="161210"/>
                </a:solidFill>
                <a:latin typeface="Georgia"/>
              </a:rPr>
              <a:t>The Common Ground Initiative —</a:t>
            </a:r>
          </a:p>
        </p:txBody>
      </p:sp>
      <p:sp>
        <p:nvSpPr>
          <p:cNvPr id="5" name="TextBox 4"/>
          <p:cNvSpPr txBox="1"/>
          <p:nvPr/>
        </p:nvSpPr>
        <p:spPr>
          <a:xfrm>
            <a:off x="502920" y="1417320"/>
            <a:ext cx="10972800" cy="1280160"/>
          </a:xfrm>
          <a:prstGeom prst="rect">
            <a:avLst/>
          </a:prstGeom>
          <a:noFill/>
        </p:spPr>
        <p:txBody>
          <a:bodyPr wrap="square" lIns="0" rIns="0" tIns="0" bIns="0" anchor="t">
            <a:spAutoFit/>
          </a:bodyPr>
          <a:lstStyle/>
          <a:p>
            <a:pPr algn="l">
              <a:lnSpc>
                <a:spcPct val="105000"/>
              </a:lnSpc>
            </a:pPr>
            <a:r>
              <a:rPr sz="3600" b="0" i="1">
                <a:solidFill>
                  <a:srgbClr val="D4A04A"/>
                </a:solidFill>
                <a:latin typeface="Georgia"/>
              </a:rPr>
              <a:t>one mechanic, every site.</a:t>
            </a:r>
          </a:p>
        </p:txBody>
      </p:sp>
      <p:sp>
        <p:nvSpPr>
          <p:cNvPr id="6" name="Rectangle 5"/>
          <p:cNvSpPr/>
          <p:nvPr/>
        </p:nvSpPr>
        <p:spPr>
          <a:xfrm>
            <a:off x="502920" y="2743200"/>
            <a:ext cx="6350" cy="1645920"/>
          </a:xfrm>
          <a:prstGeom prst="rect">
            <a:avLst/>
          </a:prstGeom>
          <a:solidFill>
            <a:srgbClr val="3A2D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743200"/>
            <a:ext cx="2743200" cy="274320"/>
          </a:xfrm>
          <a:prstGeom prst="rect">
            <a:avLst/>
          </a:prstGeom>
          <a:noFill/>
        </p:spPr>
        <p:txBody>
          <a:bodyPr wrap="square" lIns="0" rIns="0" tIns="0" bIns="0" anchor="t">
            <a:spAutoFit/>
          </a:bodyPr>
          <a:lstStyle/>
          <a:p>
            <a:pPr algn="l">
              <a:lnSpc>
                <a:spcPct val="120000"/>
              </a:lnSpc>
            </a:pPr>
            <a:r>
              <a:rPr sz="1000" b="0" i="0">
                <a:solidFill>
                  <a:srgbClr val="D4A04A"/>
                </a:solidFill>
                <a:latin typeface="Consolas"/>
              </a:rPr>
              <a:t>01</a:t>
            </a:r>
          </a:p>
        </p:txBody>
      </p:sp>
      <p:sp>
        <p:nvSpPr>
          <p:cNvPr id="8" name="TextBox 7"/>
          <p:cNvSpPr txBox="1"/>
          <p:nvPr/>
        </p:nvSpPr>
        <p:spPr>
          <a:xfrm>
            <a:off x="685800" y="3063240"/>
            <a:ext cx="2514600" cy="640080"/>
          </a:xfrm>
          <a:prstGeom prst="rect">
            <a:avLst/>
          </a:prstGeom>
          <a:noFill/>
        </p:spPr>
        <p:txBody>
          <a:bodyPr wrap="square" lIns="0" rIns="0" tIns="0" bIns="0" anchor="t">
            <a:spAutoFit/>
          </a:bodyPr>
          <a:lstStyle/>
          <a:p>
            <a:pPr algn="l">
              <a:lnSpc>
                <a:spcPct val="110000"/>
              </a:lnSpc>
            </a:pPr>
            <a:r>
              <a:rPr sz="1500" b="0" i="0">
                <a:solidFill>
                  <a:srgbClr val="161210"/>
                </a:solidFill>
                <a:latin typeface="Georgia"/>
              </a:rPr>
              <a:t>Land contributed as equity</a:t>
            </a:r>
          </a:p>
        </p:txBody>
      </p:sp>
      <p:sp>
        <p:nvSpPr>
          <p:cNvPr id="9" name="TextBox 8"/>
          <p:cNvSpPr txBox="1"/>
          <p:nvPr/>
        </p:nvSpPr>
        <p:spPr>
          <a:xfrm>
            <a:off x="685800" y="3703320"/>
            <a:ext cx="2514600" cy="640080"/>
          </a:xfrm>
          <a:prstGeom prst="rect">
            <a:avLst/>
          </a:prstGeom>
          <a:noFill/>
        </p:spPr>
        <p:txBody>
          <a:bodyPr wrap="square" lIns="0" rIns="0" tIns="0" bIns="0" anchor="t">
            <a:spAutoFit/>
          </a:bodyPr>
          <a:lstStyle/>
          <a:p>
            <a:pPr algn="l">
              <a:lnSpc>
                <a:spcPct val="145000"/>
              </a:lnSpc>
            </a:pPr>
            <a:r>
              <a:rPr sz="1050" b="0" i="0">
                <a:solidFill>
                  <a:srgbClr val="3A2D22"/>
                </a:solidFill>
                <a:latin typeface="Georgia"/>
              </a:rPr>
              <a:t>Private landowner contributes an entitled site into a project SPV as preferred-equity contribution — not a sale.</a:t>
            </a:r>
          </a:p>
        </p:txBody>
      </p:sp>
      <p:sp>
        <p:nvSpPr>
          <p:cNvPr id="10" name="Rectangle 9"/>
          <p:cNvSpPr/>
          <p:nvPr/>
        </p:nvSpPr>
        <p:spPr>
          <a:xfrm>
            <a:off x="3364992" y="2743200"/>
            <a:ext cx="6350" cy="1645920"/>
          </a:xfrm>
          <a:prstGeom prst="rect">
            <a:avLst/>
          </a:prstGeom>
          <a:solidFill>
            <a:srgbClr val="3A2D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47872" y="2743200"/>
            <a:ext cx="2743200" cy="274320"/>
          </a:xfrm>
          <a:prstGeom prst="rect">
            <a:avLst/>
          </a:prstGeom>
          <a:noFill/>
        </p:spPr>
        <p:txBody>
          <a:bodyPr wrap="square" lIns="0" rIns="0" tIns="0" bIns="0" anchor="t">
            <a:spAutoFit/>
          </a:bodyPr>
          <a:lstStyle/>
          <a:p>
            <a:pPr algn="l">
              <a:lnSpc>
                <a:spcPct val="120000"/>
              </a:lnSpc>
            </a:pPr>
            <a:r>
              <a:rPr sz="1000" b="0" i="0">
                <a:solidFill>
                  <a:srgbClr val="D4A04A"/>
                </a:solidFill>
                <a:latin typeface="Consolas"/>
              </a:rPr>
              <a:t>02</a:t>
            </a:r>
          </a:p>
        </p:txBody>
      </p:sp>
      <p:sp>
        <p:nvSpPr>
          <p:cNvPr id="12" name="TextBox 11"/>
          <p:cNvSpPr txBox="1"/>
          <p:nvPr/>
        </p:nvSpPr>
        <p:spPr>
          <a:xfrm>
            <a:off x="3547872" y="3063240"/>
            <a:ext cx="2514600" cy="640080"/>
          </a:xfrm>
          <a:prstGeom prst="rect">
            <a:avLst/>
          </a:prstGeom>
          <a:noFill/>
        </p:spPr>
        <p:txBody>
          <a:bodyPr wrap="square" lIns="0" rIns="0" tIns="0" bIns="0" anchor="t">
            <a:spAutoFit/>
          </a:bodyPr>
          <a:lstStyle/>
          <a:p>
            <a:pPr algn="l">
              <a:lnSpc>
                <a:spcPct val="110000"/>
              </a:lnSpc>
            </a:pPr>
            <a:r>
              <a:rPr sz="1500" b="0" i="0">
                <a:solidFill>
                  <a:srgbClr val="161210"/>
                </a:solidFill>
                <a:latin typeface="Georgia"/>
              </a:rPr>
              <a:t>Non-profit owns the building</a:t>
            </a:r>
          </a:p>
        </p:txBody>
      </p:sp>
      <p:sp>
        <p:nvSpPr>
          <p:cNvPr id="13" name="TextBox 12"/>
          <p:cNvSpPr txBox="1"/>
          <p:nvPr/>
        </p:nvSpPr>
        <p:spPr>
          <a:xfrm>
            <a:off x="3547872" y="3703320"/>
            <a:ext cx="2514600" cy="640080"/>
          </a:xfrm>
          <a:prstGeom prst="rect">
            <a:avLst/>
          </a:prstGeom>
          <a:noFill/>
        </p:spPr>
        <p:txBody>
          <a:bodyPr wrap="square" lIns="0" rIns="0" tIns="0" bIns="0" anchor="t">
            <a:spAutoFit/>
          </a:bodyPr>
          <a:lstStyle/>
          <a:p>
            <a:pPr algn="l">
              <a:lnSpc>
                <a:spcPct val="145000"/>
              </a:lnSpc>
            </a:pPr>
            <a:r>
              <a:rPr sz="1050" b="0" i="0">
                <a:solidFill>
                  <a:srgbClr val="3A2D22"/>
                </a:solidFill>
                <a:latin typeface="Georgia"/>
              </a:rPr>
              <a:t>Mission-aligned operator owns the building entity from day one. No upfront capital required.</a:t>
            </a:r>
          </a:p>
        </p:txBody>
      </p:sp>
      <p:sp>
        <p:nvSpPr>
          <p:cNvPr id="14" name="Rectangle 13"/>
          <p:cNvSpPr/>
          <p:nvPr/>
        </p:nvSpPr>
        <p:spPr>
          <a:xfrm>
            <a:off x="6227064" y="2743200"/>
            <a:ext cx="6350" cy="1645920"/>
          </a:xfrm>
          <a:prstGeom prst="rect">
            <a:avLst/>
          </a:prstGeom>
          <a:solidFill>
            <a:srgbClr val="3A2D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2743200"/>
            <a:ext cx="2743200" cy="274320"/>
          </a:xfrm>
          <a:prstGeom prst="rect">
            <a:avLst/>
          </a:prstGeom>
          <a:noFill/>
        </p:spPr>
        <p:txBody>
          <a:bodyPr wrap="square" lIns="0" rIns="0" tIns="0" bIns="0" anchor="t">
            <a:spAutoFit/>
          </a:bodyPr>
          <a:lstStyle/>
          <a:p>
            <a:pPr algn="l">
              <a:lnSpc>
                <a:spcPct val="120000"/>
              </a:lnSpc>
            </a:pPr>
            <a:r>
              <a:rPr sz="1000" b="0" i="0">
                <a:solidFill>
                  <a:srgbClr val="D4A04A"/>
                </a:solidFill>
                <a:latin typeface="Consolas"/>
              </a:rPr>
              <a:t>03</a:t>
            </a:r>
          </a:p>
        </p:txBody>
      </p:sp>
      <p:sp>
        <p:nvSpPr>
          <p:cNvPr id="16" name="TextBox 15"/>
          <p:cNvSpPr txBox="1"/>
          <p:nvPr/>
        </p:nvSpPr>
        <p:spPr>
          <a:xfrm>
            <a:off x="6409944" y="3063240"/>
            <a:ext cx="2514600" cy="640080"/>
          </a:xfrm>
          <a:prstGeom prst="rect">
            <a:avLst/>
          </a:prstGeom>
          <a:noFill/>
        </p:spPr>
        <p:txBody>
          <a:bodyPr wrap="square" lIns="0" rIns="0" tIns="0" bIns="0" anchor="t">
            <a:spAutoFit/>
          </a:bodyPr>
          <a:lstStyle/>
          <a:p>
            <a:pPr algn="l">
              <a:lnSpc>
                <a:spcPct val="110000"/>
              </a:lnSpc>
            </a:pPr>
            <a:r>
              <a:rPr sz="1500" b="0" i="0">
                <a:solidFill>
                  <a:srgbClr val="161210"/>
                </a:solidFill>
                <a:latin typeface="Georgia"/>
              </a:rPr>
              <a:t>CMHC + BCH finance</a:t>
            </a:r>
          </a:p>
        </p:txBody>
      </p:sp>
      <p:sp>
        <p:nvSpPr>
          <p:cNvPr id="17" name="TextBox 16"/>
          <p:cNvSpPr txBox="1"/>
          <p:nvPr/>
        </p:nvSpPr>
        <p:spPr>
          <a:xfrm>
            <a:off x="6409944" y="3703320"/>
            <a:ext cx="2514600" cy="640080"/>
          </a:xfrm>
          <a:prstGeom prst="rect">
            <a:avLst/>
          </a:prstGeom>
          <a:noFill/>
        </p:spPr>
        <p:txBody>
          <a:bodyPr wrap="square" lIns="0" rIns="0" tIns="0" bIns="0" anchor="t">
            <a:spAutoFit/>
          </a:bodyPr>
          <a:lstStyle/>
          <a:p>
            <a:pPr algn="l">
              <a:lnSpc>
                <a:spcPct val="145000"/>
              </a:lnSpc>
            </a:pPr>
            <a:r>
              <a:rPr sz="1050" b="0" i="0">
                <a:solidFill>
                  <a:srgbClr val="3A2D22"/>
                </a:solidFill>
                <a:latin typeface="Georgia"/>
              </a:rPr>
              <a:t>Construction financed on institution-grade terms through CMHC and Build Canada Homes.</a:t>
            </a:r>
          </a:p>
        </p:txBody>
      </p:sp>
      <p:sp>
        <p:nvSpPr>
          <p:cNvPr id="18" name="Rectangle 17"/>
          <p:cNvSpPr/>
          <p:nvPr/>
        </p:nvSpPr>
        <p:spPr>
          <a:xfrm>
            <a:off x="9089136" y="2743200"/>
            <a:ext cx="6350" cy="1645920"/>
          </a:xfrm>
          <a:prstGeom prst="rect">
            <a:avLst/>
          </a:prstGeom>
          <a:solidFill>
            <a:srgbClr val="3A2D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72016" y="2743200"/>
            <a:ext cx="2743200" cy="274320"/>
          </a:xfrm>
          <a:prstGeom prst="rect">
            <a:avLst/>
          </a:prstGeom>
          <a:noFill/>
        </p:spPr>
        <p:txBody>
          <a:bodyPr wrap="square" lIns="0" rIns="0" tIns="0" bIns="0" anchor="t">
            <a:spAutoFit/>
          </a:bodyPr>
          <a:lstStyle/>
          <a:p>
            <a:pPr algn="l">
              <a:lnSpc>
                <a:spcPct val="120000"/>
              </a:lnSpc>
            </a:pPr>
            <a:r>
              <a:rPr sz="1000" b="0" i="0">
                <a:solidFill>
                  <a:srgbClr val="D4A04A"/>
                </a:solidFill>
                <a:latin typeface="Consolas"/>
              </a:rPr>
              <a:t>04</a:t>
            </a:r>
          </a:p>
        </p:txBody>
      </p:sp>
      <p:sp>
        <p:nvSpPr>
          <p:cNvPr id="20" name="TextBox 19"/>
          <p:cNvSpPr txBox="1"/>
          <p:nvPr/>
        </p:nvSpPr>
        <p:spPr>
          <a:xfrm>
            <a:off x="9272016" y="3063240"/>
            <a:ext cx="2514600" cy="640080"/>
          </a:xfrm>
          <a:prstGeom prst="rect">
            <a:avLst/>
          </a:prstGeom>
          <a:noFill/>
        </p:spPr>
        <p:txBody>
          <a:bodyPr wrap="square" lIns="0" rIns="0" tIns="0" bIns="0" anchor="t">
            <a:spAutoFit/>
          </a:bodyPr>
          <a:lstStyle/>
          <a:p>
            <a:pPr algn="l">
              <a:lnSpc>
                <a:spcPct val="110000"/>
              </a:lnSpc>
            </a:pPr>
            <a:r>
              <a:rPr sz="1500" b="0" i="0">
                <a:solidFill>
                  <a:srgbClr val="161210"/>
                </a:solidFill>
                <a:latin typeface="Georgia"/>
              </a:rPr>
              <a:t>Year-20 land purchase</a:t>
            </a:r>
          </a:p>
        </p:txBody>
      </p:sp>
      <p:sp>
        <p:nvSpPr>
          <p:cNvPr id="21" name="TextBox 20"/>
          <p:cNvSpPr txBox="1"/>
          <p:nvPr/>
        </p:nvSpPr>
        <p:spPr>
          <a:xfrm>
            <a:off x="9272016" y="3703320"/>
            <a:ext cx="2514600" cy="640080"/>
          </a:xfrm>
          <a:prstGeom prst="rect">
            <a:avLst/>
          </a:prstGeom>
          <a:noFill/>
        </p:spPr>
        <p:txBody>
          <a:bodyPr wrap="square" lIns="0" rIns="0" tIns="0" bIns="0" anchor="t">
            <a:spAutoFit/>
          </a:bodyPr>
          <a:lstStyle/>
          <a:p>
            <a:pPr algn="l">
              <a:lnSpc>
                <a:spcPct val="145000"/>
              </a:lnSpc>
            </a:pPr>
            <a:r>
              <a:rPr sz="1050" b="0" i="0">
                <a:solidFill>
                  <a:srgbClr val="3A2D22"/>
                </a:solidFill>
                <a:latin typeface="Georgia"/>
              </a:rPr>
              <a:t>Mortgage paydown plus retained equity fund a fair-value redemption. NFP acquires the land fee-simple.</a:t>
            </a:r>
          </a:p>
        </p:txBody>
      </p:sp>
      <p:sp>
        <p:nvSpPr>
          <p:cNvPr id="22" name="TextBox 21"/>
          <p:cNvSpPr txBox="1"/>
          <p:nvPr/>
        </p:nvSpPr>
        <p:spPr>
          <a:xfrm>
            <a:off x="502920" y="4663440"/>
            <a:ext cx="10972800" cy="274320"/>
          </a:xfrm>
          <a:prstGeom prst="rect">
            <a:avLst/>
          </a:prstGeom>
          <a:noFill/>
        </p:spPr>
        <p:txBody>
          <a:bodyPr wrap="square" lIns="0" rIns="0" tIns="0" bIns="0" anchor="t">
            <a:spAutoFit/>
          </a:bodyPr>
          <a:lstStyle/>
          <a:p>
            <a:pPr algn="l">
              <a:lnSpc>
                <a:spcPct val="120000"/>
              </a:lnSpc>
            </a:pPr>
            <a:r>
              <a:rPr sz="900" b="0" i="0">
                <a:solidFill>
                  <a:srgbClr val="D4A04A"/>
                </a:solidFill>
                <a:latin typeface="Consolas"/>
              </a:rPr>
              <a:t>PIPELINE AT A GLANCE  ·  MAY 2026</a:t>
            </a:r>
          </a:p>
        </p:txBody>
      </p:sp>
      <p:cxnSp>
        <p:nvCxnSpPr>
          <p:cNvPr id="23" name="Connector 22"/>
          <p:cNvCxnSpPr/>
          <p:nvPr/>
        </p:nvCxnSpPr>
        <p:spPr>
          <a:xfrm>
            <a:off x="502920" y="4937760"/>
            <a:ext cx="11155680" cy="0"/>
          </a:xfrm>
          <a:prstGeom prst="line">
            <a:avLst/>
          </a:prstGeom>
          <a:ln w="6350">
            <a:solidFill>
              <a:srgbClr val="16121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02920" y="5074920"/>
            <a:ext cx="2697480" cy="731520"/>
          </a:xfrm>
          <a:prstGeom prst="rect">
            <a:avLst/>
          </a:prstGeom>
          <a:noFill/>
        </p:spPr>
        <p:txBody>
          <a:bodyPr wrap="square" lIns="0" rIns="0" tIns="0" bIns="0" anchor="t">
            <a:spAutoFit/>
          </a:bodyPr>
          <a:lstStyle/>
          <a:p>
            <a:pPr algn="l">
              <a:lnSpc>
                <a:spcPct val="100000"/>
              </a:lnSpc>
            </a:pPr>
            <a:r>
              <a:rPr sz="3800" b="0" i="0">
                <a:solidFill>
                  <a:srgbClr val="161210"/>
                </a:solidFill>
                <a:latin typeface="Georgia"/>
              </a:rPr>
              <a:t>5,623</a:t>
            </a:r>
          </a:p>
        </p:txBody>
      </p:sp>
      <p:sp>
        <p:nvSpPr>
          <p:cNvPr id="25" name="TextBox 24"/>
          <p:cNvSpPr txBox="1"/>
          <p:nvPr/>
        </p:nvSpPr>
        <p:spPr>
          <a:xfrm>
            <a:off x="502920" y="5715000"/>
            <a:ext cx="2697480" cy="365760"/>
          </a:xfrm>
          <a:prstGeom prst="rect">
            <a:avLst/>
          </a:prstGeom>
          <a:noFill/>
        </p:spPr>
        <p:txBody>
          <a:bodyPr wrap="square" lIns="0" rIns="0" tIns="0" bIns="0" anchor="t">
            <a:spAutoFit/>
          </a:bodyPr>
          <a:lstStyle/>
          <a:p>
            <a:pPr algn="l">
              <a:lnSpc>
                <a:spcPct val="120000"/>
              </a:lnSpc>
            </a:pPr>
            <a:r>
              <a:rPr sz="800" b="0" i="0">
                <a:solidFill>
                  <a:srgbClr val="3A2D22"/>
                </a:solidFill>
                <a:latin typeface="Consolas"/>
              </a:rPr>
              <a:t>HOMES IN PIPELINE</a:t>
            </a:r>
          </a:p>
        </p:txBody>
      </p:sp>
      <p:sp>
        <p:nvSpPr>
          <p:cNvPr id="26" name="TextBox 25"/>
          <p:cNvSpPr txBox="1"/>
          <p:nvPr/>
        </p:nvSpPr>
        <p:spPr>
          <a:xfrm>
            <a:off x="3383280" y="5074920"/>
            <a:ext cx="2697480" cy="731520"/>
          </a:xfrm>
          <a:prstGeom prst="rect">
            <a:avLst/>
          </a:prstGeom>
          <a:noFill/>
        </p:spPr>
        <p:txBody>
          <a:bodyPr wrap="square" lIns="0" rIns="0" tIns="0" bIns="0" anchor="t">
            <a:spAutoFit/>
          </a:bodyPr>
          <a:lstStyle/>
          <a:p>
            <a:pPr algn="l">
              <a:lnSpc>
                <a:spcPct val="100000"/>
              </a:lnSpc>
            </a:pPr>
            <a:r>
              <a:rPr sz="3800" b="0" i="0">
                <a:solidFill>
                  <a:srgbClr val="161210"/>
                </a:solidFill>
                <a:latin typeface="Georgia"/>
              </a:rPr>
              <a:t>21</a:t>
            </a:r>
          </a:p>
        </p:txBody>
      </p:sp>
      <p:sp>
        <p:nvSpPr>
          <p:cNvPr id="27" name="TextBox 26"/>
          <p:cNvSpPr txBox="1"/>
          <p:nvPr/>
        </p:nvSpPr>
        <p:spPr>
          <a:xfrm>
            <a:off x="3383280" y="5715000"/>
            <a:ext cx="2697480" cy="365760"/>
          </a:xfrm>
          <a:prstGeom prst="rect">
            <a:avLst/>
          </a:prstGeom>
          <a:noFill/>
        </p:spPr>
        <p:txBody>
          <a:bodyPr wrap="square" lIns="0" rIns="0" tIns="0" bIns="0" anchor="t">
            <a:spAutoFit/>
          </a:bodyPr>
          <a:lstStyle/>
          <a:p>
            <a:pPr algn="l">
              <a:lnSpc>
                <a:spcPct val="120000"/>
              </a:lnSpc>
            </a:pPr>
            <a:r>
              <a:rPr sz="800" b="0" i="0">
                <a:solidFill>
                  <a:srgbClr val="3A2D22"/>
                </a:solidFill>
                <a:latin typeface="Consolas"/>
              </a:rPr>
              <a:t>ENTITLED SITES</a:t>
            </a:r>
          </a:p>
        </p:txBody>
      </p:sp>
      <p:sp>
        <p:nvSpPr>
          <p:cNvPr id="28" name="TextBox 27"/>
          <p:cNvSpPr txBox="1"/>
          <p:nvPr/>
        </p:nvSpPr>
        <p:spPr>
          <a:xfrm>
            <a:off x="6263640" y="5074920"/>
            <a:ext cx="2697480" cy="731520"/>
          </a:xfrm>
          <a:prstGeom prst="rect">
            <a:avLst/>
          </a:prstGeom>
          <a:noFill/>
        </p:spPr>
        <p:txBody>
          <a:bodyPr wrap="square" lIns="0" rIns="0" tIns="0" bIns="0" anchor="t">
            <a:spAutoFit/>
          </a:bodyPr>
          <a:lstStyle/>
          <a:p>
            <a:pPr algn="l">
              <a:lnSpc>
                <a:spcPct val="100000"/>
              </a:lnSpc>
            </a:pPr>
            <a:r>
              <a:rPr sz="3800" b="0" i="0">
                <a:solidFill>
                  <a:srgbClr val="A14A23"/>
                </a:solidFill>
                <a:latin typeface="Georgia"/>
              </a:rPr>
              <a:t>906</a:t>
            </a:r>
          </a:p>
        </p:txBody>
      </p:sp>
      <p:sp>
        <p:nvSpPr>
          <p:cNvPr id="29" name="TextBox 28"/>
          <p:cNvSpPr txBox="1"/>
          <p:nvPr/>
        </p:nvSpPr>
        <p:spPr>
          <a:xfrm>
            <a:off x="6263640" y="5715000"/>
            <a:ext cx="2697480" cy="365760"/>
          </a:xfrm>
          <a:prstGeom prst="rect">
            <a:avLst/>
          </a:prstGeom>
          <a:noFill/>
        </p:spPr>
        <p:txBody>
          <a:bodyPr wrap="square" lIns="0" rIns="0" tIns="0" bIns="0" anchor="t">
            <a:spAutoFit/>
          </a:bodyPr>
          <a:lstStyle/>
          <a:p>
            <a:pPr algn="l">
              <a:lnSpc>
                <a:spcPct val="120000"/>
              </a:lnSpc>
            </a:pPr>
            <a:r>
              <a:rPr sz="800" b="0" i="0">
                <a:solidFill>
                  <a:srgbClr val="3A2D22"/>
                </a:solidFill>
                <a:latin typeface="Consolas"/>
              </a:rPr>
              <a:t>LAUNCHPAD COHORT · 2026</a:t>
            </a:r>
          </a:p>
        </p:txBody>
      </p:sp>
      <p:sp>
        <p:nvSpPr>
          <p:cNvPr id="30" name="TextBox 29"/>
          <p:cNvSpPr txBox="1"/>
          <p:nvPr/>
        </p:nvSpPr>
        <p:spPr>
          <a:xfrm>
            <a:off x="9144000" y="5074920"/>
            <a:ext cx="2697480" cy="731520"/>
          </a:xfrm>
          <a:prstGeom prst="rect">
            <a:avLst/>
          </a:prstGeom>
          <a:noFill/>
        </p:spPr>
        <p:txBody>
          <a:bodyPr wrap="square" lIns="0" rIns="0" tIns="0" bIns="0" anchor="t">
            <a:spAutoFit/>
          </a:bodyPr>
          <a:lstStyle/>
          <a:p>
            <a:pPr algn="l">
              <a:lnSpc>
                <a:spcPct val="100000"/>
              </a:lnSpc>
            </a:pPr>
            <a:r>
              <a:rPr sz="3800" b="0" i="0">
                <a:solidFill>
                  <a:srgbClr val="161210"/>
                </a:solidFill>
                <a:latin typeface="Georgia"/>
              </a:rPr>
              <a:t>~$3.8B</a:t>
            </a:r>
          </a:p>
        </p:txBody>
      </p:sp>
      <p:sp>
        <p:nvSpPr>
          <p:cNvPr id="31" name="TextBox 30"/>
          <p:cNvSpPr txBox="1"/>
          <p:nvPr/>
        </p:nvSpPr>
        <p:spPr>
          <a:xfrm>
            <a:off x="9144000" y="5715000"/>
            <a:ext cx="2697480" cy="365760"/>
          </a:xfrm>
          <a:prstGeom prst="rect">
            <a:avLst/>
          </a:prstGeom>
          <a:noFill/>
        </p:spPr>
        <p:txBody>
          <a:bodyPr wrap="square" lIns="0" rIns="0" tIns="0" bIns="0" anchor="t">
            <a:spAutoFit/>
          </a:bodyPr>
          <a:lstStyle/>
          <a:p>
            <a:pPr algn="l">
              <a:lnSpc>
                <a:spcPct val="120000"/>
              </a:lnSpc>
            </a:pPr>
            <a:r>
              <a:rPr sz="800" b="0" i="0">
                <a:solidFill>
                  <a:srgbClr val="3A2D22"/>
                </a:solidFill>
                <a:latin typeface="Consolas"/>
              </a:rPr>
              <a:t>EST. PIPELINE DEV VALUE</a:t>
            </a:r>
          </a:p>
        </p:txBody>
      </p:sp>
      <p:cxnSp>
        <p:nvCxnSpPr>
          <p:cNvPr id="32" name="Connector 31"/>
          <p:cNvCxnSpPr/>
          <p:nvPr/>
        </p:nvCxnSpPr>
        <p:spPr>
          <a:xfrm>
            <a:off x="502920" y="6355080"/>
            <a:ext cx="11185855" cy="0"/>
          </a:xfrm>
          <a:prstGeom prst="line">
            <a:avLst/>
          </a:prstGeom>
          <a:ln w="6350">
            <a:solidFill>
              <a:srgbClr val="16121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02920" y="6473952"/>
            <a:ext cx="7315200" cy="274320"/>
          </a:xfrm>
          <a:prstGeom prst="rect">
            <a:avLst/>
          </a:prstGeom>
          <a:noFill/>
        </p:spPr>
        <p:txBody>
          <a:bodyPr wrap="square" lIns="0" rIns="0" tIns="0" bIns="0" anchor="t">
            <a:spAutoFit/>
          </a:bodyPr>
          <a:lstStyle/>
          <a:p>
            <a:pPr algn="l">
              <a:lnSpc>
                <a:spcPct val="120000"/>
              </a:lnSpc>
            </a:pPr>
            <a:r>
              <a:rPr sz="750" b="0" i="0">
                <a:solidFill>
                  <a:srgbClr val="3A2D22"/>
                </a:solidFill>
                <a:latin typeface="Consolas"/>
              </a:rPr>
              <a:t>UBUNTU LTD  ·  NORTHPINE FOUNDATION  ·  EXECUTIVE SUMMARY</a:t>
            </a:r>
          </a:p>
        </p:txBody>
      </p:sp>
      <p:sp>
        <p:nvSpPr>
          <p:cNvPr id="34" name="TextBox 33"/>
          <p:cNvSpPr txBox="1"/>
          <p:nvPr/>
        </p:nvSpPr>
        <p:spPr>
          <a:xfrm>
            <a:off x="8534095" y="6473952"/>
            <a:ext cx="3200400" cy="274320"/>
          </a:xfrm>
          <a:prstGeom prst="rect">
            <a:avLst/>
          </a:prstGeom>
          <a:noFill/>
        </p:spPr>
        <p:txBody>
          <a:bodyPr wrap="square" lIns="0" rIns="0" tIns="0" bIns="0" anchor="t">
            <a:spAutoFit/>
          </a:bodyPr>
          <a:lstStyle/>
          <a:p>
            <a:pPr algn="r">
              <a:lnSpc>
                <a:spcPct val="120000"/>
              </a:lnSpc>
            </a:pPr>
            <a:r>
              <a:rPr sz="750" b="0" i="0">
                <a:solidFill>
                  <a:srgbClr val="3A2D22"/>
                </a:solidFill>
                <a:latin typeface="Consolas"/>
              </a:rPr>
              <a:t>03 / 05                UBT-26-001-EXS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BD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0058400" cy="274320"/>
          </a:xfrm>
          <a:prstGeom prst="rect">
            <a:avLst/>
          </a:prstGeom>
          <a:noFill/>
        </p:spPr>
        <p:txBody>
          <a:bodyPr wrap="square" lIns="0" rIns="0" tIns="0" bIns="0" anchor="t">
            <a:spAutoFit/>
          </a:bodyPr>
          <a:lstStyle/>
          <a:p>
            <a:pPr algn="l">
              <a:lnSpc>
                <a:spcPct val="120000"/>
              </a:lnSpc>
            </a:pPr>
            <a:r>
              <a:rPr sz="1000" b="0" i="0">
                <a:solidFill>
                  <a:srgbClr val="D4A04A"/>
                </a:solidFill>
                <a:latin typeface="Consolas"/>
              </a:rPr>
              <a:t>03  ·  WHY NORTHPINE</a:t>
            </a:r>
          </a:p>
        </p:txBody>
      </p:sp>
      <p:sp>
        <p:nvSpPr>
          <p:cNvPr id="4" name="TextBox 3"/>
          <p:cNvSpPr txBox="1"/>
          <p:nvPr/>
        </p:nvSpPr>
        <p:spPr>
          <a:xfrm>
            <a:off x="502920" y="868680"/>
            <a:ext cx="10972800" cy="1280160"/>
          </a:xfrm>
          <a:prstGeom prst="rect">
            <a:avLst/>
          </a:prstGeom>
          <a:noFill/>
        </p:spPr>
        <p:txBody>
          <a:bodyPr wrap="square" lIns="0" rIns="0" tIns="0" bIns="0" anchor="t">
            <a:spAutoFit/>
          </a:bodyPr>
          <a:lstStyle/>
          <a:p>
            <a:pPr algn="l">
              <a:lnSpc>
                <a:spcPct val="105000"/>
              </a:lnSpc>
            </a:pPr>
            <a:r>
              <a:rPr sz="3600" b="0" i="0">
                <a:solidFill>
                  <a:srgbClr val="161210"/>
                </a:solidFill>
                <a:latin typeface="Georgia"/>
              </a:rPr>
              <a:t>Alignment on every priority.</a:t>
            </a:r>
          </a:p>
        </p:txBody>
      </p:sp>
      <p:sp>
        <p:nvSpPr>
          <p:cNvPr id="5" name="TextBox 4"/>
          <p:cNvSpPr txBox="1"/>
          <p:nvPr/>
        </p:nvSpPr>
        <p:spPr>
          <a:xfrm>
            <a:off x="502920" y="1417320"/>
            <a:ext cx="10972800" cy="1280160"/>
          </a:xfrm>
          <a:prstGeom prst="rect">
            <a:avLst/>
          </a:prstGeom>
          <a:noFill/>
        </p:spPr>
        <p:txBody>
          <a:bodyPr wrap="square" lIns="0" rIns="0" tIns="0" bIns="0" anchor="t">
            <a:spAutoFit/>
          </a:bodyPr>
          <a:lstStyle/>
          <a:p>
            <a:pPr algn="l">
              <a:lnSpc>
                <a:spcPct val="105000"/>
              </a:lnSpc>
            </a:pPr>
            <a:r>
              <a:rPr sz="3600" b="0" i="1">
                <a:solidFill>
                  <a:srgbClr val="D4A04A"/>
                </a:solidFill>
                <a:latin typeface="Georgia"/>
              </a:rPr>
              <a:t>Proof in your home geography.</a:t>
            </a:r>
          </a:p>
        </p:txBody>
      </p:sp>
      <p:sp>
        <p:nvSpPr>
          <p:cNvPr id="6" name="TextBox 5"/>
          <p:cNvSpPr txBox="1"/>
          <p:nvPr/>
        </p:nvSpPr>
        <p:spPr>
          <a:xfrm>
            <a:off x="502920" y="2743200"/>
            <a:ext cx="5486400" cy="274320"/>
          </a:xfrm>
          <a:prstGeom prst="rect">
            <a:avLst/>
          </a:prstGeom>
          <a:noFill/>
        </p:spPr>
        <p:txBody>
          <a:bodyPr wrap="square" lIns="0" rIns="0" tIns="0" bIns="0" anchor="t">
            <a:spAutoFit/>
          </a:bodyPr>
          <a:lstStyle/>
          <a:p>
            <a:pPr algn="l">
              <a:lnSpc>
                <a:spcPct val="120000"/>
              </a:lnSpc>
            </a:pPr>
            <a:r>
              <a:rPr sz="900" b="0" i="0">
                <a:solidFill>
                  <a:srgbClr val="D4A04A"/>
                </a:solidFill>
                <a:latin typeface="Consolas"/>
              </a:rPr>
              <a:t>NORTHPINE ALIGNMENT</a:t>
            </a:r>
          </a:p>
        </p:txBody>
      </p:sp>
      <p:cxnSp>
        <p:nvCxnSpPr>
          <p:cNvPr id="7" name="Connector 6"/>
          <p:cNvCxnSpPr/>
          <p:nvPr/>
        </p:nvCxnSpPr>
        <p:spPr>
          <a:xfrm>
            <a:off x="502920" y="3035808"/>
            <a:ext cx="5486400" cy="0"/>
          </a:xfrm>
          <a:prstGeom prst="line">
            <a:avLst/>
          </a:prstGeom>
          <a:ln w="6350">
            <a:solidFill>
              <a:srgbClr val="16121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3108960"/>
            <a:ext cx="2377440" cy="365760"/>
          </a:xfrm>
          <a:prstGeom prst="rect">
            <a:avLst/>
          </a:prstGeom>
          <a:noFill/>
        </p:spPr>
        <p:txBody>
          <a:bodyPr wrap="square" lIns="0" rIns="0" tIns="0" bIns="0" anchor="t">
            <a:spAutoFit/>
          </a:bodyPr>
          <a:lstStyle/>
          <a:p>
            <a:pPr algn="l">
              <a:lnSpc>
                <a:spcPct val="120000"/>
              </a:lnSpc>
            </a:pPr>
            <a:r>
              <a:rPr sz="1100" b="0" i="1">
                <a:solidFill>
                  <a:srgbClr val="161210"/>
                </a:solidFill>
                <a:latin typeface="Georgia"/>
              </a:rPr>
              <a:t>People at risk of poverty</a:t>
            </a:r>
          </a:p>
        </p:txBody>
      </p:sp>
      <p:sp>
        <p:nvSpPr>
          <p:cNvPr id="9" name="TextBox 8"/>
          <p:cNvSpPr txBox="1"/>
          <p:nvPr/>
        </p:nvSpPr>
        <p:spPr>
          <a:xfrm>
            <a:off x="2926080" y="3108960"/>
            <a:ext cx="3108960" cy="411480"/>
          </a:xfrm>
          <a:prstGeom prst="rect">
            <a:avLst/>
          </a:prstGeom>
          <a:noFill/>
        </p:spPr>
        <p:txBody>
          <a:bodyPr wrap="square" lIns="0" rIns="0" tIns="0" bIns="0" anchor="t">
            <a:spAutoFit/>
          </a:bodyPr>
          <a:lstStyle/>
          <a:p>
            <a:pPr algn="l">
              <a:lnSpc>
                <a:spcPct val="135000"/>
              </a:lnSpc>
            </a:pPr>
            <a:r>
              <a:rPr sz="1050" b="0" i="0">
                <a:solidFill>
                  <a:srgbClr val="3A2D22"/>
                </a:solidFill>
                <a:latin typeface="Georgia"/>
              </a:rPr>
              <a:t>≥30% units below 80% MMR, deep-affordability tier</a:t>
            </a:r>
          </a:p>
        </p:txBody>
      </p:sp>
      <p:sp>
        <p:nvSpPr>
          <p:cNvPr id="10" name="TextBox 9"/>
          <p:cNvSpPr txBox="1"/>
          <p:nvPr/>
        </p:nvSpPr>
        <p:spPr>
          <a:xfrm>
            <a:off x="502920" y="3493008"/>
            <a:ext cx="2377440" cy="365760"/>
          </a:xfrm>
          <a:prstGeom prst="rect">
            <a:avLst/>
          </a:prstGeom>
          <a:noFill/>
        </p:spPr>
        <p:txBody>
          <a:bodyPr wrap="square" lIns="0" rIns="0" tIns="0" bIns="0" anchor="t">
            <a:spAutoFit/>
          </a:bodyPr>
          <a:lstStyle/>
          <a:p>
            <a:pPr algn="l">
              <a:lnSpc>
                <a:spcPct val="120000"/>
              </a:lnSpc>
            </a:pPr>
            <a:r>
              <a:rPr sz="1100" b="0" i="1">
                <a:solidFill>
                  <a:srgbClr val="161210"/>
                </a:solidFill>
                <a:latin typeface="Georgia"/>
              </a:rPr>
              <a:t>Refugees &amp; newcomers</a:t>
            </a:r>
          </a:p>
        </p:txBody>
      </p:sp>
      <p:sp>
        <p:nvSpPr>
          <p:cNvPr id="11" name="TextBox 10"/>
          <p:cNvSpPr txBox="1"/>
          <p:nvPr/>
        </p:nvSpPr>
        <p:spPr>
          <a:xfrm>
            <a:off x="2926080" y="3493008"/>
            <a:ext cx="3108960" cy="411480"/>
          </a:xfrm>
          <a:prstGeom prst="rect">
            <a:avLst/>
          </a:prstGeom>
          <a:noFill/>
        </p:spPr>
        <p:txBody>
          <a:bodyPr wrap="square" lIns="0" rIns="0" tIns="0" bIns="0" anchor="t">
            <a:spAutoFit/>
          </a:bodyPr>
          <a:lstStyle/>
          <a:p>
            <a:pPr algn="l">
              <a:lnSpc>
                <a:spcPct val="135000"/>
              </a:lnSpc>
            </a:pPr>
            <a:r>
              <a:rPr sz="1050" b="0" i="0">
                <a:solidFill>
                  <a:srgbClr val="3A2D22"/>
                </a:solidFill>
                <a:latin typeface="Georgia"/>
              </a:rPr>
              <a:t>Co-founded by RCHC — Kizito's ACAH Village origin</a:t>
            </a:r>
          </a:p>
        </p:txBody>
      </p:sp>
      <p:sp>
        <p:nvSpPr>
          <p:cNvPr id="12" name="TextBox 11"/>
          <p:cNvSpPr txBox="1"/>
          <p:nvPr/>
        </p:nvSpPr>
        <p:spPr>
          <a:xfrm>
            <a:off x="502920" y="3877056"/>
            <a:ext cx="2377440" cy="365760"/>
          </a:xfrm>
          <a:prstGeom prst="rect">
            <a:avLst/>
          </a:prstGeom>
          <a:noFill/>
        </p:spPr>
        <p:txBody>
          <a:bodyPr wrap="square" lIns="0" rIns="0" tIns="0" bIns="0" anchor="t">
            <a:spAutoFit/>
          </a:bodyPr>
          <a:lstStyle/>
          <a:p>
            <a:pPr algn="l">
              <a:lnSpc>
                <a:spcPct val="120000"/>
              </a:lnSpc>
            </a:pPr>
            <a:r>
              <a:rPr sz="1100" b="0" i="1">
                <a:solidFill>
                  <a:srgbClr val="161210"/>
                </a:solidFill>
                <a:latin typeface="Georgia"/>
              </a:rPr>
              <a:t>Seniors</a:t>
            </a:r>
          </a:p>
        </p:txBody>
      </p:sp>
      <p:sp>
        <p:nvSpPr>
          <p:cNvPr id="13" name="TextBox 12"/>
          <p:cNvSpPr txBox="1"/>
          <p:nvPr/>
        </p:nvSpPr>
        <p:spPr>
          <a:xfrm>
            <a:off x="2926080" y="3877056"/>
            <a:ext cx="3108960" cy="411480"/>
          </a:xfrm>
          <a:prstGeom prst="rect">
            <a:avLst/>
          </a:prstGeom>
          <a:noFill/>
        </p:spPr>
        <p:txBody>
          <a:bodyPr wrap="square" lIns="0" rIns="0" tIns="0" bIns="0" anchor="t">
            <a:spAutoFit/>
          </a:bodyPr>
          <a:lstStyle/>
          <a:p>
            <a:pPr algn="l">
              <a:lnSpc>
                <a:spcPct val="135000"/>
              </a:lnSpc>
            </a:pPr>
            <a:r>
              <a:rPr sz="1050" b="0" i="0">
                <a:solidFill>
                  <a:srgbClr val="3A2D22"/>
                </a:solidFill>
                <a:latin typeface="Georgia"/>
              </a:rPr>
              <a:t>Listowel Launchpad: 49 units / 88 beds seniors residence</a:t>
            </a:r>
          </a:p>
        </p:txBody>
      </p:sp>
      <p:sp>
        <p:nvSpPr>
          <p:cNvPr id="14" name="TextBox 13"/>
          <p:cNvSpPr txBox="1"/>
          <p:nvPr/>
        </p:nvSpPr>
        <p:spPr>
          <a:xfrm>
            <a:off x="502920" y="4261104"/>
            <a:ext cx="2377440" cy="365760"/>
          </a:xfrm>
          <a:prstGeom prst="rect">
            <a:avLst/>
          </a:prstGeom>
          <a:noFill/>
        </p:spPr>
        <p:txBody>
          <a:bodyPr wrap="square" lIns="0" rIns="0" tIns="0" bIns="0" anchor="t">
            <a:spAutoFit/>
          </a:bodyPr>
          <a:lstStyle/>
          <a:p>
            <a:pPr algn="l">
              <a:lnSpc>
                <a:spcPct val="120000"/>
              </a:lnSpc>
            </a:pPr>
            <a:r>
              <a:rPr sz="1100" b="0" i="1">
                <a:solidFill>
                  <a:srgbClr val="161210"/>
                </a:solidFill>
                <a:latin typeface="Georgia"/>
              </a:rPr>
              <a:t>Black &amp; racialised</a:t>
            </a:r>
          </a:p>
        </p:txBody>
      </p:sp>
      <p:sp>
        <p:nvSpPr>
          <p:cNvPr id="15" name="TextBox 14"/>
          <p:cNvSpPr txBox="1"/>
          <p:nvPr/>
        </p:nvSpPr>
        <p:spPr>
          <a:xfrm>
            <a:off x="2926080" y="4261104"/>
            <a:ext cx="3108960" cy="411480"/>
          </a:xfrm>
          <a:prstGeom prst="rect">
            <a:avLst/>
          </a:prstGeom>
          <a:noFill/>
        </p:spPr>
        <p:txBody>
          <a:bodyPr wrap="square" lIns="0" rIns="0" tIns="0" bIns="0" anchor="t">
            <a:spAutoFit/>
          </a:bodyPr>
          <a:lstStyle/>
          <a:p>
            <a:pPr algn="l">
              <a:lnSpc>
                <a:spcPct val="135000"/>
              </a:lnSpc>
            </a:pPr>
            <a:r>
              <a:rPr sz="1050" b="0" i="0">
                <a:solidFill>
                  <a:srgbClr val="3A2D22"/>
                </a:solidFill>
                <a:latin typeface="Georgia"/>
              </a:rPr>
              <a:t>Black-led board and executive</a:t>
            </a:r>
          </a:p>
        </p:txBody>
      </p:sp>
      <p:sp>
        <p:nvSpPr>
          <p:cNvPr id="16" name="TextBox 15"/>
          <p:cNvSpPr txBox="1"/>
          <p:nvPr/>
        </p:nvSpPr>
        <p:spPr>
          <a:xfrm>
            <a:off x="502920" y="4645152"/>
            <a:ext cx="2377440" cy="365760"/>
          </a:xfrm>
          <a:prstGeom prst="rect">
            <a:avLst/>
          </a:prstGeom>
          <a:noFill/>
        </p:spPr>
        <p:txBody>
          <a:bodyPr wrap="square" lIns="0" rIns="0" tIns="0" bIns="0" anchor="t">
            <a:spAutoFit/>
          </a:bodyPr>
          <a:lstStyle/>
          <a:p>
            <a:pPr algn="l">
              <a:lnSpc>
                <a:spcPct val="120000"/>
              </a:lnSpc>
            </a:pPr>
            <a:r>
              <a:rPr sz="1100" b="0" i="1">
                <a:solidFill>
                  <a:srgbClr val="161210"/>
                </a:solidFill>
                <a:latin typeface="Georgia"/>
              </a:rPr>
              <a:t>Self-sustaining</a:t>
            </a:r>
          </a:p>
        </p:txBody>
      </p:sp>
      <p:sp>
        <p:nvSpPr>
          <p:cNvPr id="17" name="TextBox 16"/>
          <p:cNvSpPr txBox="1"/>
          <p:nvPr/>
        </p:nvSpPr>
        <p:spPr>
          <a:xfrm>
            <a:off x="2926080" y="4645152"/>
            <a:ext cx="3108960" cy="411480"/>
          </a:xfrm>
          <a:prstGeom prst="rect">
            <a:avLst/>
          </a:prstGeom>
          <a:noFill/>
        </p:spPr>
        <p:txBody>
          <a:bodyPr wrap="square" lIns="0" rIns="0" tIns="0" bIns="0" anchor="t">
            <a:spAutoFit/>
          </a:bodyPr>
          <a:lstStyle/>
          <a:p>
            <a:pPr algn="l">
              <a:lnSpc>
                <a:spcPct val="135000"/>
              </a:lnSpc>
            </a:pPr>
            <a:r>
              <a:rPr sz="1050" b="0" i="0">
                <a:solidFill>
                  <a:srgbClr val="3A2D22"/>
                </a:solidFill>
                <a:latin typeface="Georgia"/>
              </a:rPr>
              <a:t>Earned-revenue self-sufficiency by Month 24</a:t>
            </a:r>
          </a:p>
        </p:txBody>
      </p:sp>
      <p:sp>
        <p:nvSpPr>
          <p:cNvPr id="18" name="Rectangle 17"/>
          <p:cNvSpPr/>
          <p:nvPr/>
        </p:nvSpPr>
        <p:spPr>
          <a:xfrm>
            <a:off x="6400800" y="2743200"/>
            <a:ext cx="5303520" cy="3246120"/>
          </a:xfrm>
          <a:prstGeom prst="rect">
            <a:avLst/>
          </a:prstGeom>
          <a:solidFill>
            <a:srgbClr val="F5ECD6"/>
          </a:solidFill>
          <a:ln w="9525">
            <a:solidFill>
              <a:srgbClr val="C89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0" y="2743200"/>
            <a:ext cx="50800" cy="3246120"/>
          </a:xfrm>
          <a:prstGeom prst="rect">
            <a:avLst/>
          </a:prstGeom>
          <a:solidFill>
            <a:srgbClr val="D4A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0" y="2926080"/>
            <a:ext cx="4937760" cy="274320"/>
          </a:xfrm>
          <a:prstGeom prst="rect">
            <a:avLst/>
          </a:prstGeom>
          <a:noFill/>
        </p:spPr>
        <p:txBody>
          <a:bodyPr wrap="square" lIns="0" rIns="0" tIns="0" bIns="0" anchor="t">
            <a:spAutoFit/>
          </a:bodyPr>
          <a:lstStyle/>
          <a:p>
            <a:pPr algn="l">
              <a:lnSpc>
                <a:spcPct val="120000"/>
              </a:lnSpc>
            </a:pPr>
            <a:r>
              <a:rPr sz="900" b="0" i="0">
                <a:solidFill>
                  <a:srgbClr val="D4A04A"/>
                </a:solidFill>
                <a:latin typeface="Consolas"/>
              </a:rPr>
              <a:t>★  SCARBOROUGH PORTFOLIO  ·  NORTHPINE'S HOME GEOGRAPHY</a:t>
            </a:r>
          </a:p>
        </p:txBody>
      </p:sp>
      <p:sp>
        <p:nvSpPr>
          <p:cNvPr id="21" name="TextBox 20"/>
          <p:cNvSpPr txBox="1"/>
          <p:nvPr/>
        </p:nvSpPr>
        <p:spPr>
          <a:xfrm>
            <a:off x="6675120" y="3246120"/>
            <a:ext cx="4937760" cy="457200"/>
          </a:xfrm>
          <a:prstGeom prst="rect">
            <a:avLst/>
          </a:prstGeom>
          <a:noFill/>
        </p:spPr>
        <p:txBody>
          <a:bodyPr wrap="square" lIns="0" rIns="0" tIns="0" bIns="0" anchor="t">
            <a:spAutoFit/>
          </a:bodyPr>
          <a:lstStyle/>
          <a:p>
            <a:pPr algn="l">
              <a:lnSpc>
                <a:spcPct val="120000"/>
              </a:lnSpc>
            </a:pPr>
            <a:r>
              <a:rPr sz="1500" b="0" i="1">
                <a:solidFill>
                  <a:srgbClr val="161210"/>
                </a:solidFill>
                <a:latin typeface="Georgia"/>
              </a:rPr>
              <a:t>467 homes · 3 sites · already in pipeline</a:t>
            </a:r>
          </a:p>
        </p:txBody>
      </p:sp>
      <p:sp>
        <p:nvSpPr>
          <p:cNvPr id="22" name="TextBox 21"/>
          <p:cNvSpPr txBox="1"/>
          <p:nvPr/>
        </p:nvSpPr>
        <p:spPr>
          <a:xfrm>
            <a:off x="6675120" y="3886200"/>
            <a:ext cx="3200400" cy="274320"/>
          </a:xfrm>
          <a:prstGeom prst="rect">
            <a:avLst/>
          </a:prstGeom>
          <a:noFill/>
        </p:spPr>
        <p:txBody>
          <a:bodyPr wrap="square" lIns="0" rIns="0" tIns="0" bIns="0" anchor="t">
            <a:spAutoFit/>
          </a:bodyPr>
          <a:lstStyle/>
          <a:p>
            <a:pPr algn="l">
              <a:lnSpc>
                <a:spcPct val="120000"/>
              </a:lnSpc>
            </a:pPr>
            <a:r>
              <a:rPr sz="1100" b="0" i="0">
                <a:solidFill>
                  <a:srgbClr val="161210"/>
                </a:solidFill>
                <a:latin typeface="Georgia"/>
              </a:rPr>
              <a:t>2008 Brimley Road</a:t>
            </a:r>
          </a:p>
        </p:txBody>
      </p:sp>
      <p:sp>
        <p:nvSpPr>
          <p:cNvPr id="23" name="TextBox 22"/>
          <p:cNvSpPr txBox="1"/>
          <p:nvPr/>
        </p:nvSpPr>
        <p:spPr>
          <a:xfrm>
            <a:off x="6675120" y="4114800"/>
            <a:ext cx="3200400" cy="274320"/>
          </a:xfrm>
          <a:prstGeom prst="rect">
            <a:avLst/>
          </a:prstGeom>
          <a:noFill/>
        </p:spPr>
        <p:txBody>
          <a:bodyPr wrap="square" lIns="0" rIns="0" tIns="0" bIns="0" anchor="t">
            <a:spAutoFit/>
          </a:bodyPr>
          <a:lstStyle/>
          <a:p>
            <a:pPr algn="l">
              <a:lnSpc>
                <a:spcPct val="120000"/>
              </a:lnSpc>
            </a:pPr>
            <a:r>
              <a:rPr sz="800" b="0" i="0">
                <a:solidFill>
                  <a:srgbClr val="3A2D22"/>
                </a:solidFill>
                <a:latin typeface="Consolas"/>
              </a:rPr>
              <a:t>6-storey family-housing pilot</a:t>
            </a:r>
          </a:p>
        </p:txBody>
      </p:sp>
      <p:sp>
        <p:nvSpPr>
          <p:cNvPr id="24" name="TextBox 23"/>
          <p:cNvSpPr txBox="1"/>
          <p:nvPr/>
        </p:nvSpPr>
        <p:spPr>
          <a:xfrm>
            <a:off x="9966960" y="3904488"/>
            <a:ext cx="1371600" cy="365760"/>
          </a:xfrm>
          <a:prstGeom prst="rect">
            <a:avLst/>
          </a:prstGeom>
          <a:noFill/>
        </p:spPr>
        <p:txBody>
          <a:bodyPr wrap="square" lIns="0" rIns="0" tIns="0" bIns="0" anchor="t">
            <a:spAutoFit/>
          </a:bodyPr>
          <a:lstStyle/>
          <a:p>
            <a:pPr algn="r">
              <a:lnSpc>
                <a:spcPct val="120000"/>
              </a:lnSpc>
            </a:pPr>
            <a:r>
              <a:rPr sz="2000" b="1" i="0">
                <a:solidFill>
                  <a:srgbClr val="A14A23"/>
                </a:solidFill>
                <a:latin typeface="Georgia"/>
              </a:rPr>
              <a:t>30</a:t>
            </a:r>
          </a:p>
        </p:txBody>
      </p:sp>
      <p:sp>
        <p:nvSpPr>
          <p:cNvPr id="25" name="TextBox 24"/>
          <p:cNvSpPr txBox="1"/>
          <p:nvPr/>
        </p:nvSpPr>
        <p:spPr>
          <a:xfrm>
            <a:off x="6675120" y="4507992"/>
            <a:ext cx="3200400" cy="274320"/>
          </a:xfrm>
          <a:prstGeom prst="rect">
            <a:avLst/>
          </a:prstGeom>
          <a:noFill/>
        </p:spPr>
        <p:txBody>
          <a:bodyPr wrap="square" lIns="0" rIns="0" tIns="0" bIns="0" anchor="t">
            <a:spAutoFit/>
          </a:bodyPr>
          <a:lstStyle/>
          <a:p>
            <a:pPr algn="l">
              <a:lnSpc>
                <a:spcPct val="120000"/>
              </a:lnSpc>
            </a:pPr>
            <a:r>
              <a:rPr sz="1100" b="0" i="0">
                <a:solidFill>
                  <a:srgbClr val="161210"/>
                </a:solidFill>
                <a:latin typeface="Georgia"/>
              </a:rPr>
              <a:t>4140 Finch Ave E  ·  NAMF</a:t>
            </a:r>
          </a:p>
        </p:txBody>
      </p:sp>
      <p:sp>
        <p:nvSpPr>
          <p:cNvPr id="26" name="TextBox 25"/>
          <p:cNvSpPr txBox="1"/>
          <p:nvPr/>
        </p:nvSpPr>
        <p:spPr>
          <a:xfrm>
            <a:off x="6675120" y="4736592"/>
            <a:ext cx="3200400" cy="274320"/>
          </a:xfrm>
          <a:prstGeom prst="rect">
            <a:avLst/>
          </a:prstGeom>
          <a:noFill/>
        </p:spPr>
        <p:txBody>
          <a:bodyPr wrap="square" lIns="0" rIns="0" tIns="0" bIns="0" anchor="t">
            <a:spAutoFit/>
          </a:bodyPr>
          <a:lstStyle/>
          <a:p>
            <a:pPr algn="l">
              <a:lnSpc>
                <a:spcPct val="120000"/>
              </a:lnSpc>
            </a:pPr>
            <a:r>
              <a:rPr sz="800" b="0" i="0">
                <a:solidFill>
                  <a:srgbClr val="3A2D22"/>
                </a:solidFill>
                <a:latin typeface="Consolas"/>
              </a:rPr>
              <a:t>32-storey community anchor</a:t>
            </a:r>
          </a:p>
        </p:txBody>
      </p:sp>
      <p:sp>
        <p:nvSpPr>
          <p:cNvPr id="27" name="TextBox 26"/>
          <p:cNvSpPr txBox="1"/>
          <p:nvPr/>
        </p:nvSpPr>
        <p:spPr>
          <a:xfrm>
            <a:off x="9966960" y="4526280"/>
            <a:ext cx="1371600" cy="365760"/>
          </a:xfrm>
          <a:prstGeom prst="rect">
            <a:avLst/>
          </a:prstGeom>
          <a:noFill/>
        </p:spPr>
        <p:txBody>
          <a:bodyPr wrap="square" lIns="0" rIns="0" tIns="0" bIns="0" anchor="t">
            <a:spAutoFit/>
          </a:bodyPr>
          <a:lstStyle/>
          <a:p>
            <a:pPr algn="r">
              <a:lnSpc>
                <a:spcPct val="120000"/>
              </a:lnSpc>
            </a:pPr>
            <a:r>
              <a:rPr sz="2000" b="1" i="0">
                <a:solidFill>
                  <a:srgbClr val="A14A23"/>
                </a:solidFill>
                <a:latin typeface="Georgia"/>
              </a:rPr>
              <a:t>243</a:t>
            </a:r>
          </a:p>
        </p:txBody>
      </p:sp>
      <p:sp>
        <p:nvSpPr>
          <p:cNvPr id="28" name="TextBox 27"/>
          <p:cNvSpPr txBox="1"/>
          <p:nvPr/>
        </p:nvSpPr>
        <p:spPr>
          <a:xfrm>
            <a:off x="6675120" y="5129784"/>
            <a:ext cx="3200400" cy="274320"/>
          </a:xfrm>
          <a:prstGeom prst="rect">
            <a:avLst/>
          </a:prstGeom>
          <a:noFill/>
        </p:spPr>
        <p:txBody>
          <a:bodyPr wrap="square" lIns="0" rIns="0" tIns="0" bIns="0" anchor="t">
            <a:spAutoFit/>
          </a:bodyPr>
          <a:lstStyle/>
          <a:p>
            <a:pPr algn="l">
              <a:lnSpc>
                <a:spcPct val="120000"/>
              </a:lnSpc>
            </a:pPr>
            <a:r>
              <a:rPr sz="1100" b="0" i="0">
                <a:solidFill>
                  <a:srgbClr val="161210"/>
                </a:solidFill>
                <a:latin typeface="Georgia"/>
              </a:rPr>
              <a:t>3175–3181 Sheppard Ave E</a:t>
            </a:r>
          </a:p>
        </p:txBody>
      </p:sp>
      <p:sp>
        <p:nvSpPr>
          <p:cNvPr id="29" name="TextBox 28"/>
          <p:cNvSpPr txBox="1"/>
          <p:nvPr/>
        </p:nvSpPr>
        <p:spPr>
          <a:xfrm>
            <a:off x="6675120" y="5358384"/>
            <a:ext cx="3200400" cy="274320"/>
          </a:xfrm>
          <a:prstGeom prst="rect">
            <a:avLst/>
          </a:prstGeom>
          <a:noFill/>
        </p:spPr>
        <p:txBody>
          <a:bodyPr wrap="square" lIns="0" rIns="0" tIns="0" bIns="0" anchor="t">
            <a:spAutoFit/>
          </a:bodyPr>
          <a:lstStyle/>
          <a:p>
            <a:pPr algn="l">
              <a:lnSpc>
                <a:spcPct val="120000"/>
              </a:lnSpc>
            </a:pPr>
            <a:r>
              <a:rPr sz="800" b="0" i="0">
                <a:solidFill>
                  <a:srgbClr val="3A2D22"/>
                </a:solidFill>
                <a:latin typeface="Consolas"/>
              </a:rPr>
              <a:t>14-storey Avenues mixed-use</a:t>
            </a:r>
          </a:p>
        </p:txBody>
      </p:sp>
      <p:sp>
        <p:nvSpPr>
          <p:cNvPr id="30" name="TextBox 29"/>
          <p:cNvSpPr txBox="1"/>
          <p:nvPr/>
        </p:nvSpPr>
        <p:spPr>
          <a:xfrm>
            <a:off x="9966960" y="5148072"/>
            <a:ext cx="1371600" cy="365760"/>
          </a:xfrm>
          <a:prstGeom prst="rect">
            <a:avLst/>
          </a:prstGeom>
          <a:noFill/>
        </p:spPr>
        <p:txBody>
          <a:bodyPr wrap="square" lIns="0" rIns="0" tIns="0" bIns="0" anchor="t">
            <a:spAutoFit/>
          </a:bodyPr>
          <a:lstStyle/>
          <a:p>
            <a:pPr algn="r">
              <a:lnSpc>
                <a:spcPct val="120000"/>
              </a:lnSpc>
            </a:pPr>
            <a:r>
              <a:rPr sz="2000" b="1" i="0">
                <a:solidFill>
                  <a:srgbClr val="A14A23"/>
                </a:solidFill>
                <a:latin typeface="Georgia"/>
              </a:rPr>
              <a:t>194</a:t>
            </a:r>
          </a:p>
        </p:txBody>
      </p:sp>
      <p:cxnSp>
        <p:nvCxnSpPr>
          <p:cNvPr id="31" name="Connector 30"/>
          <p:cNvCxnSpPr/>
          <p:nvPr/>
        </p:nvCxnSpPr>
        <p:spPr>
          <a:xfrm>
            <a:off x="502920" y="6355080"/>
            <a:ext cx="11185855" cy="0"/>
          </a:xfrm>
          <a:prstGeom prst="line">
            <a:avLst/>
          </a:prstGeom>
          <a:ln w="6350">
            <a:solidFill>
              <a:srgbClr val="16121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02920" y="6473952"/>
            <a:ext cx="7315200" cy="274320"/>
          </a:xfrm>
          <a:prstGeom prst="rect">
            <a:avLst/>
          </a:prstGeom>
          <a:noFill/>
        </p:spPr>
        <p:txBody>
          <a:bodyPr wrap="square" lIns="0" rIns="0" tIns="0" bIns="0" anchor="t">
            <a:spAutoFit/>
          </a:bodyPr>
          <a:lstStyle/>
          <a:p>
            <a:pPr algn="l">
              <a:lnSpc>
                <a:spcPct val="120000"/>
              </a:lnSpc>
            </a:pPr>
            <a:r>
              <a:rPr sz="750" b="0" i="0">
                <a:solidFill>
                  <a:srgbClr val="3A2D22"/>
                </a:solidFill>
                <a:latin typeface="Consolas"/>
              </a:rPr>
              <a:t>UBUNTU LTD  ·  NORTHPINE FOUNDATION  ·  EXECUTIVE SUMMARY</a:t>
            </a:r>
          </a:p>
        </p:txBody>
      </p:sp>
      <p:sp>
        <p:nvSpPr>
          <p:cNvPr id="33" name="TextBox 32"/>
          <p:cNvSpPr txBox="1"/>
          <p:nvPr/>
        </p:nvSpPr>
        <p:spPr>
          <a:xfrm>
            <a:off x="8534095" y="6473952"/>
            <a:ext cx="3200400" cy="274320"/>
          </a:xfrm>
          <a:prstGeom prst="rect">
            <a:avLst/>
          </a:prstGeom>
          <a:noFill/>
        </p:spPr>
        <p:txBody>
          <a:bodyPr wrap="square" lIns="0" rIns="0" tIns="0" bIns="0" anchor="t">
            <a:spAutoFit/>
          </a:bodyPr>
          <a:lstStyle/>
          <a:p>
            <a:pPr algn="r">
              <a:lnSpc>
                <a:spcPct val="120000"/>
              </a:lnSpc>
            </a:pPr>
            <a:r>
              <a:rPr sz="750" b="0" i="0">
                <a:solidFill>
                  <a:srgbClr val="3A2D22"/>
                </a:solidFill>
                <a:latin typeface="Consolas"/>
              </a:rPr>
              <a:t>04 / 05                UBT-26-001-EXS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16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3500"/>
          </a:xfrm>
          <a:prstGeom prst="rect">
            <a:avLst/>
          </a:prstGeom>
          <a:solidFill>
            <a:srgbClr val="D4A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457200"/>
            <a:ext cx="12191695" cy="365760"/>
          </a:xfrm>
          <a:prstGeom prst="rect">
            <a:avLst/>
          </a:prstGeom>
          <a:noFill/>
        </p:spPr>
        <p:txBody>
          <a:bodyPr wrap="square" lIns="0" rIns="0" tIns="0" bIns="0" anchor="t">
            <a:spAutoFit/>
          </a:bodyPr>
          <a:lstStyle/>
          <a:p>
            <a:pPr algn="ctr">
              <a:lnSpc>
                <a:spcPct val="120000"/>
              </a:lnSpc>
            </a:pPr>
            <a:r>
              <a:rPr sz="1100" b="0" i="0">
                <a:solidFill>
                  <a:srgbClr val="D4A04A"/>
                </a:solidFill>
                <a:latin typeface="Consolas"/>
              </a:rPr>
              <a:t>—  THE INVESTMENT  —</a:t>
            </a:r>
          </a:p>
        </p:txBody>
      </p:sp>
      <p:sp>
        <p:nvSpPr>
          <p:cNvPr id="5" name="TextBox 4"/>
          <p:cNvSpPr txBox="1"/>
          <p:nvPr/>
        </p:nvSpPr>
        <p:spPr>
          <a:xfrm>
            <a:off x="0" y="1051560"/>
            <a:ext cx="12191695" cy="1463040"/>
          </a:xfrm>
          <a:prstGeom prst="rect">
            <a:avLst/>
          </a:prstGeom>
          <a:noFill/>
        </p:spPr>
        <p:txBody>
          <a:bodyPr wrap="square" lIns="0" rIns="0" tIns="0" bIns="0" anchor="t">
            <a:spAutoFit/>
          </a:bodyPr>
          <a:lstStyle/>
          <a:p>
            <a:pPr algn="ctr">
              <a:lnSpc>
                <a:spcPct val="100000"/>
              </a:lnSpc>
            </a:pPr>
            <a:r>
              <a:rPr sz="11000" b="0" i="0">
                <a:solidFill>
                  <a:srgbClr val="EBDFC4"/>
                </a:solidFill>
                <a:latin typeface="Georgia"/>
              </a:rPr>
              <a:t>$2,000,000</a:t>
            </a:r>
          </a:p>
        </p:txBody>
      </p:sp>
      <p:sp>
        <p:nvSpPr>
          <p:cNvPr id="6" name="TextBox 5"/>
          <p:cNvSpPr txBox="1"/>
          <p:nvPr/>
        </p:nvSpPr>
        <p:spPr>
          <a:xfrm>
            <a:off x="0" y="2468880"/>
            <a:ext cx="12191695" cy="457200"/>
          </a:xfrm>
          <a:prstGeom prst="rect">
            <a:avLst/>
          </a:prstGeom>
          <a:noFill/>
        </p:spPr>
        <p:txBody>
          <a:bodyPr wrap="square" lIns="0" rIns="0" tIns="0" bIns="0" anchor="t">
            <a:spAutoFit/>
          </a:bodyPr>
          <a:lstStyle/>
          <a:p>
            <a:pPr algn="ctr">
              <a:lnSpc>
                <a:spcPct val="120000"/>
              </a:lnSpc>
            </a:pPr>
            <a:r>
              <a:rPr sz="1800" b="0" i="1">
                <a:solidFill>
                  <a:srgbClr val="D4A04A"/>
                </a:solidFill>
                <a:latin typeface="Georgia"/>
              </a:rPr>
              <a:t>One-time platform infrastructure investment</a:t>
            </a:r>
          </a:p>
        </p:txBody>
      </p:sp>
      <p:cxnSp>
        <p:nvCxnSpPr>
          <p:cNvPr id="7" name="Connector 6"/>
          <p:cNvCxnSpPr/>
          <p:nvPr/>
        </p:nvCxnSpPr>
        <p:spPr>
          <a:xfrm>
            <a:off x="1828800" y="3154680"/>
            <a:ext cx="8503920" cy="0"/>
          </a:xfrm>
          <a:prstGeom prst="line">
            <a:avLst/>
          </a:prstGeom>
          <a:ln w="6350">
            <a:solidFill>
              <a:srgbClr val="EBDFC4"/>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0" y="3337560"/>
            <a:ext cx="12191695" cy="274320"/>
          </a:xfrm>
          <a:prstGeom prst="rect">
            <a:avLst/>
          </a:prstGeom>
          <a:noFill/>
        </p:spPr>
        <p:txBody>
          <a:bodyPr wrap="square" lIns="0" rIns="0" tIns="0" bIns="0" anchor="t">
            <a:spAutoFit/>
          </a:bodyPr>
          <a:lstStyle/>
          <a:p>
            <a:pPr algn="ctr">
              <a:lnSpc>
                <a:spcPct val="120000"/>
              </a:lnSpc>
            </a:pPr>
            <a:r>
              <a:rPr sz="900" b="0" i="0">
                <a:solidFill>
                  <a:srgbClr val="D4A04A"/>
                </a:solidFill>
                <a:latin typeface="Consolas"/>
              </a:rPr>
              <a:t>WHAT IT FUNDS</a:t>
            </a:r>
          </a:p>
        </p:txBody>
      </p:sp>
      <p:sp>
        <p:nvSpPr>
          <p:cNvPr id="9" name="TextBox 8"/>
          <p:cNvSpPr txBox="1"/>
          <p:nvPr/>
        </p:nvSpPr>
        <p:spPr>
          <a:xfrm>
            <a:off x="586587" y="3703320"/>
            <a:ext cx="2651760" cy="457200"/>
          </a:xfrm>
          <a:prstGeom prst="rect">
            <a:avLst/>
          </a:prstGeom>
          <a:noFill/>
        </p:spPr>
        <p:txBody>
          <a:bodyPr wrap="square" lIns="0" rIns="0" tIns="0" bIns="0" anchor="t">
            <a:spAutoFit/>
          </a:bodyPr>
          <a:lstStyle/>
          <a:p>
            <a:pPr algn="ctr">
              <a:lnSpc>
                <a:spcPct val="100000"/>
              </a:lnSpc>
            </a:pPr>
            <a:r>
              <a:rPr sz="2200" b="0" i="0">
                <a:solidFill>
                  <a:srgbClr val="D4A04A"/>
                </a:solidFill>
                <a:latin typeface="Georgia"/>
              </a:rPr>
              <a:t>$650K</a:t>
            </a:r>
          </a:p>
        </p:txBody>
      </p:sp>
      <p:sp>
        <p:nvSpPr>
          <p:cNvPr id="10" name="TextBox 9"/>
          <p:cNvSpPr txBox="1"/>
          <p:nvPr/>
        </p:nvSpPr>
        <p:spPr>
          <a:xfrm>
            <a:off x="586587" y="4160520"/>
            <a:ext cx="2651760" cy="548640"/>
          </a:xfrm>
          <a:prstGeom prst="rect">
            <a:avLst/>
          </a:prstGeom>
          <a:noFill/>
        </p:spPr>
        <p:txBody>
          <a:bodyPr wrap="square" lIns="0" rIns="0" tIns="0" bIns="0" anchor="t">
            <a:spAutoFit/>
          </a:bodyPr>
          <a:lstStyle/>
          <a:p>
            <a:pPr algn="ctr">
              <a:lnSpc>
                <a:spcPct val="130000"/>
              </a:lnSpc>
            </a:pPr>
            <a:r>
              <a:rPr sz="1050" b="0" i="1">
                <a:solidFill>
                  <a:srgbClr val="EBDFC4"/>
                </a:solidFill>
                <a:latin typeface="Georgia"/>
              </a:rPr>
              <a:t>Site tie-downs &amp; land readiness</a:t>
            </a:r>
          </a:p>
        </p:txBody>
      </p:sp>
      <p:sp>
        <p:nvSpPr>
          <p:cNvPr id="11" name="TextBox 10"/>
          <p:cNvSpPr txBox="1"/>
          <p:nvPr/>
        </p:nvSpPr>
        <p:spPr>
          <a:xfrm>
            <a:off x="3375507" y="3703320"/>
            <a:ext cx="2651760" cy="457200"/>
          </a:xfrm>
          <a:prstGeom prst="rect">
            <a:avLst/>
          </a:prstGeom>
          <a:noFill/>
        </p:spPr>
        <p:txBody>
          <a:bodyPr wrap="square" lIns="0" rIns="0" tIns="0" bIns="0" anchor="t">
            <a:spAutoFit/>
          </a:bodyPr>
          <a:lstStyle/>
          <a:p>
            <a:pPr algn="ctr">
              <a:lnSpc>
                <a:spcPct val="100000"/>
              </a:lnSpc>
            </a:pPr>
            <a:r>
              <a:rPr sz="2200" b="0" i="0">
                <a:solidFill>
                  <a:srgbClr val="D4A04A"/>
                </a:solidFill>
                <a:latin typeface="Georgia"/>
              </a:rPr>
              <a:t>$450K</a:t>
            </a:r>
          </a:p>
        </p:txBody>
      </p:sp>
      <p:sp>
        <p:nvSpPr>
          <p:cNvPr id="12" name="TextBox 11"/>
          <p:cNvSpPr txBox="1"/>
          <p:nvPr/>
        </p:nvSpPr>
        <p:spPr>
          <a:xfrm>
            <a:off x="3375507" y="4160520"/>
            <a:ext cx="2651760" cy="548640"/>
          </a:xfrm>
          <a:prstGeom prst="rect">
            <a:avLst/>
          </a:prstGeom>
          <a:noFill/>
        </p:spPr>
        <p:txBody>
          <a:bodyPr wrap="square" lIns="0" rIns="0" tIns="0" bIns="0" anchor="t">
            <a:spAutoFit/>
          </a:bodyPr>
          <a:lstStyle/>
          <a:p>
            <a:pPr algn="ctr">
              <a:lnSpc>
                <a:spcPct val="130000"/>
              </a:lnSpc>
            </a:pPr>
            <a:r>
              <a:rPr sz="1050" b="0" i="1">
                <a:solidFill>
                  <a:srgbClr val="EBDFC4"/>
                </a:solidFill>
                <a:latin typeface="Georgia"/>
              </a:rPr>
              <a:t>Pre-development &amp; legal structuring</a:t>
            </a:r>
          </a:p>
        </p:txBody>
      </p:sp>
      <p:sp>
        <p:nvSpPr>
          <p:cNvPr id="13" name="TextBox 12"/>
          <p:cNvSpPr txBox="1"/>
          <p:nvPr/>
        </p:nvSpPr>
        <p:spPr>
          <a:xfrm>
            <a:off x="6164427" y="3703320"/>
            <a:ext cx="2651760" cy="457200"/>
          </a:xfrm>
          <a:prstGeom prst="rect">
            <a:avLst/>
          </a:prstGeom>
          <a:noFill/>
        </p:spPr>
        <p:txBody>
          <a:bodyPr wrap="square" lIns="0" rIns="0" tIns="0" bIns="0" anchor="t">
            <a:spAutoFit/>
          </a:bodyPr>
          <a:lstStyle/>
          <a:p>
            <a:pPr algn="ctr">
              <a:lnSpc>
                <a:spcPct val="100000"/>
              </a:lnSpc>
            </a:pPr>
            <a:r>
              <a:rPr sz="2200" b="0" i="0">
                <a:solidFill>
                  <a:srgbClr val="D4A04A"/>
                </a:solidFill>
                <a:latin typeface="Georgia"/>
              </a:rPr>
              <a:t>$550K</a:t>
            </a:r>
          </a:p>
        </p:txBody>
      </p:sp>
      <p:sp>
        <p:nvSpPr>
          <p:cNvPr id="14" name="TextBox 13"/>
          <p:cNvSpPr txBox="1"/>
          <p:nvPr/>
        </p:nvSpPr>
        <p:spPr>
          <a:xfrm>
            <a:off x="6164427" y="4160520"/>
            <a:ext cx="2651760" cy="548640"/>
          </a:xfrm>
          <a:prstGeom prst="rect">
            <a:avLst/>
          </a:prstGeom>
          <a:noFill/>
        </p:spPr>
        <p:txBody>
          <a:bodyPr wrap="square" lIns="0" rIns="0" tIns="0" bIns="0" anchor="t">
            <a:spAutoFit/>
          </a:bodyPr>
          <a:lstStyle/>
          <a:p>
            <a:pPr algn="ctr">
              <a:lnSpc>
                <a:spcPct val="130000"/>
              </a:lnSpc>
            </a:pPr>
            <a:r>
              <a:rPr sz="1050" b="0" i="1">
                <a:solidFill>
                  <a:srgbClr val="EBDFC4"/>
                </a:solidFill>
                <a:latin typeface="Georgia"/>
              </a:rPr>
              <a:t>Platform delivery &amp; team</a:t>
            </a:r>
          </a:p>
        </p:txBody>
      </p:sp>
      <p:sp>
        <p:nvSpPr>
          <p:cNvPr id="15" name="TextBox 14"/>
          <p:cNvSpPr txBox="1"/>
          <p:nvPr/>
        </p:nvSpPr>
        <p:spPr>
          <a:xfrm>
            <a:off x="8953347" y="3703320"/>
            <a:ext cx="2651760" cy="457200"/>
          </a:xfrm>
          <a:prstGeom prst="rect">
            <a:avLst/>
          </a:prstGeom>
          <a:noFill/>
        </p:spPr>
        <p:txBody>
          <a:bodyPr wrap="square" lIns="0" rIns="0" tIns="0" bIns="0" anchor="t">
            <a:spAutoFit/>
          </a:bodyPr>
          <a:lstStyle/>
          <a:p>
            <a:pPr algn="ctr">
              <a:lnSpc>
                <a:spcPct val="100000"/>
              </a:lnSpc>
            </a:pPr>
            <a:r>
              <a:rPr sz="2200" b="0" i="0">
                <a:solidFill>
                  <a:srgbClr val="D4A04A"/>
                </a:solidFill>
                <a:latin typeface="Georgia"/>
              </a:rPr>
              <a:t>$350K</a:t>
            </a:r>
          </a:p>
        </p:txBody>
      </p:sp>
      <p:sp>
        <p:nvSpPr>
          <p:cNvPr id="16" name="TextBox 15"/>
          <p:cNvSpPr txBox="1"/>
          <p:nvPr/>
        </p:nvSpPr>
        <p:spPr>
          <a:xfrm>
            <a:off x="8953347" y="4160520"/>
            <a:ext cx="2651760" cy="548640"/>
          </a:xfrm>
          <a:prstGeom prst="rect">
            <a:avLst/>
          </a:prstGeom>
          <a:noFill/>
        </p:spPr>
        <p:txBody>
          <a:bodyPr wrap="square" lIns="0" rIns="0" tIns="0" bIns="0" anchor="t">
            <a:spAutoFit/>
          </a:bodyPr>
          <a:lstStyle/>
          <a:p>
            <a:pPr algn="ctr">
              <a:lnSpc>
                <a:spcPct val="130000"/>
              </a:lnSpc>
            </a:pPr>
            <a:r>
              <a:rPr sz="1050" b="0" i="1">
                <a:solidFill>
                  <a:srgbClr val="EBDFC4"/>
                </a:solidFill>
                <a:latin typeface="Georgia"/>
              </a:rPr>
              <a:t>Capital formation &amp; contingency</a:t>
            </a:r>
          </a:p>
        </p:txBody>
      </p:sp>
      <p:cxnSp>
        <p:nvCxnSpPr>
          <p:cNvPr id="17" name="Connector 16"/>
          <p:cNvCxnSpPr/>
          <p:nvPr/>
        </p:nvCxnSpPr>
        <p:spPr>
          <a:xfrm>
            <a:off x="1828800" y="4983480"/>
            <a:ext cx="8503920" cy="0"/>
          </a:xfrm>
          <a:prstGeom prst="line">
            <a:avLst/>
          </a:prstGeom>
          <a:ln w="6350">
            <a:solidFill>
              <a:srgbClr val="EBDFC4"/>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0" y="5120640"/>
            <a:ext cx="12191695" cy="320040"/>
          </a:xfrm>
          <a:prstGeom prst="rect">
            <a:avLst/>
          </a:prstGeom>
          <a:noFill/>
        </p:spPr>
        <p:txBody>
          <a:bodyPr wrap="square" lIns="0" rIns="0" tIns="0" bIns="0" anchor="t">
            <a:spAutoFit/>
          </a:bodyPr>
          <a:lstStyle/>
          <a:p>
            <a:pPr algn="ctr">
              <a:lnSpc>
                <a:spcPct val="120000"/>
              </a:lnSpc>
            </a:pPr>
            <a:r>
              <a:rPr sz="900" b="0" i="0">
                <a:solidFill>
                  <a:srgbClr val="D4A04A"/>
                </a:solidFill>
                <a:latin typeface="Consolas"/>
              </a:rPr>
              <a:t>MILESTONES  ·  SELF-SUSTAINING BY MONTH 24</a:t>
            </a:r>
          </a:p>
        </p:txBody>
      </p:sp>
      <p:sp>
        <p:nvSpPr>
          <p:cNvPr id="19" name="TextBox 18"/>
          <p:cNvSpPr txBox="1"/>
          <p:nvPr/>
        </p:nvSpPr>
        <p:spPr>
          <a:xfrm>
            <a:off x="0" y="5394960"/>
            <a:ext cx="12191695" cy="365760"/>
          </a:xfrm>
          <a:prstGeom prst="rect">
            <a:avLst/>
          </a:prstGeom>
          <a:noFill/>
        </p:spPr>
        <p:txBody>
          <a:bodyPr wrap="square" lIns="0" rIns="0" tIns="0" bIns="0" anchor="t">
            <a:spAutoFit/>
          </a:bodyPr>
          <a:lstStyle/>
          <a:p>
            <a:pPr algn="ctr">
              <a:lnSpc>
                <a:spcPct val="130000"/>
              </a:lnSpc>
            </a:pPr>
            <a:r>
              <a:rPr sz="1200" b="0" i="1">
                <a:solidFill>
                  <a:srgbClr val="EBDFC4"/>
                </a:solidFill>
                <a:latin typeface="Georgia"/>
              </a:rPr>
              <a:t>Launchpad construction-ready in 12–18 months  ·  ~$615M federal capital activated  ·  906 homes break ground 2026</a:t>
            </a:r>
          </a:p>
        </p:txBody>
      </p:sp>
      <p:sp>
        <p:nvSpPr>
          <p:cNvPr id="20" name="TextBox 19"/>
          <p:cNvSpPr txBox="1"/>
          <p:nvPr/>
        </p:nvSpPr>
        <p:spPr>
          <a:xfrm>
            <a:off x="0" y="5943600"/>
            <a:ext cx="12191695" cy="292608"/>
          </a:xfrm>
          <a:prstGeom prst="rect">
            <a:avLst/>
          </a:prstGeom>
          <a:noFill/>
        </p:spPr>
        <p:txBody>
          <a:bodyPr wrap="square" lIns="0" rIns="0" tIns="0" bIns="0" anchor="t">
            <a:spAutoFit/>
          </a:bodyPr>
          <a:lstStyle/>
          <a:p>
            <a:pPr algn="ctr">
              <a:lnSpc>
                <a:spcPct val="120000"/>
              </a:lnSpc>
            </a:pPr>
            <a:r>
              <a:rPr sz="800" b="0" i="0">
                <a:solidFill>
                  <a:srgbClr val="D4A04A"/>
                </a:solidFill>
                <a:latin typeface="Consolas"/>
              </a:rPr>
              <a:t>DIRECT LINE</a:t>
            </a:r>
          </a:p>
        </p:txBody>
      </p:sp>
      <p:sp>
        <p:nvSpPr>
          <p:cNvPr id="21" name="TextBox 20"/>
          <p:cNvSpPr txBox="1"/>
          <p:nvPr/>
        </p:nvSpPr>
        <p:spPr>
          <a:xfrm>
            <a:off x="0" y="6172200"/>
            <a:ext cx="12191695" cy="292608"/>
          </a:xfrm>
          <a:prstGeom prst="rect">
            <a:avLst/>
          </a:prstGeom>
          <a:noFill/>
        </p:spPr>
        <p:txBody>
          <a:bodyPr wrap="square" lIns="0" rIns="0" tIns="0" bIns="0" anchor="t">
            <a:spAutoFit/>
          </a:bodyPr>
          <a:lstStyle/>
          <a:p>
            <a:pPr algn="ctr">
              <a:lnSpc>
                <a:spcPct val="120000"/>
              </a:lnSpc>
            </a:pPr>
            <a:r>
              <a:rPr sz="1100" b="0" i="1">
                <a:solidFill>
                  <a:srgbClr val="EBDFC4"/>
                </a:solidFill>
                <a:latin typeface="Georgia"/>
              </a:rPr>
              <a:t>Jonathan Okubay  ·  Managing Director  ·  jonathan@ubuntultd.com  ·  +1 647 740 9784</a:t>
            </a:r>
          </a:p>
        </p:txBody>
      </p:sp>
      <p:sp>
        <p:nvSpPr>
          <p:cNvPr id="22" name="TextBox 21"/>
          <p:cNvSpPr txBox="1"/>
          <p:nvPr/>
        </p:nvSpPr>
        <p:spPr>
          <a:xfrm>
            <a:off x="0" y="6400800"/>
            <a:ext cx="12191695" cy="274320"/>
          </a:xfrm>
          <a:prstGeom prst="rect">
            <a:avLst/>
          </a:prstGeom>
          <a:noFill/>
        </p:spPr>
        <p:txBody>
          <a:bodyPr wrap="square" lIns="0" rIns="0" tIns="0" bIns="0" anchor="t">
            <a:spAutoFit/>
          </a:bodyPr>
          <a:lstStyle/>
          <a:p>
            <a:pPr algn="ctr">
              <a:lnSpc>
                <a:spcPct val="120000"/>
              </a:lnSpc>
            </a:pPr>
            <a:r>
              <a:rPr sz="850" b="0" i="0">
                <a:solidFill>
                  <a:srgbClr val="D4A04A"/>
                </a:solidFill>
                <a:latin typeface="Consolas"/>
              </a:rPr>
              <a:t>UBUNTULTD.COM     ·     INFO@UBUNTULTD.COM     ·     TORONTO, ON</a:t>
            </a:r>
          </a:p>
        </p:txBody>
      </p:sp>
      <p:sp>
        <p:nvSpPr>
          <p:cNvPr id="23" name="Rectangle 22"/>
          <p:cNvSpPr/>
          <p:nvPr/>
        </p:nvSpPr>
        <p:spPr>
          <a:xfrm>
            <a:off x="0" y="6794500"/>
            <a:ext cx="12191695" cy="63500"/>
          </a:xfrm>
          <a:prstGeom prst="rect">
            <a:avLst/>
          </a:prstGeom>
          <a:solidFill>
            <a:srgbClr val="D4A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