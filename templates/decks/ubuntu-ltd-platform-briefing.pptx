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UBUNTU LTD  ·  COMMON GROUND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0" i="0">
                <a:solidFill>
                  <a:srgbClr val="EBDFC4"/>
                </a:solidFill>
                <a:latin typeface="Georgia"/>
              </a:rPr>
              <a:t>Ubuntu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35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4A04A"/>
                </a:solidFill>
                <a:latin typeface="Consolas"/>
              </a:rPr>
              <a:t>LAND TRUST &amp; DEVELOPMENTS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03320"/>
            <a:ext cx="6858000" cy="0"/>
          </a:xfrm>
          <a:prstGeom prst="line">
            <a:avLst/>
          </a:prstGeom>
          <a:ln w="9525">
            <a:solidFill>
              <a:srgbClr val="EBD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EBDFC4"/>
                </a:solidFill>
                <a:latin typeface="Georgia"/>
              </a:rPr>
              <a:t>A Black-led housing platform,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D4A04A"/>
                </a:solidFill>
                <a:latin typeface="Georgia"/>
              </a:rPr>
              <a:t>ready to deploy.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PRESENTED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BDFC4"/>
                </a:solidFill>
                <a:latin typeface="Georgia"/>
              </a:rPr>
              <a:t>[Audience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[Title / body]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760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BDFC4"/>
                </a:solidFill>
                <a:latin typeface="Consolas"/>
              </a:rPr>
              <a:t>[YYYY-MM-DD]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943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Consolas"/>
              </a:rPr>
              <a:t>v1.0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760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Kizito Musabimana  · 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943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Jonathan Okubay  ·  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EBDFC4"/>
                </a:solidFill>
                <a:latin typeface="Consolas"/>
              </a:rPr>
              <a:t>5,623 HOMES  ·  21 ENTITLED SITES  ·  906-HOME LAUNCHPAD COHORT  ·  2026 GROUND-BREAK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01  ·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The housing commitment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coordination to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A2D22"/>
                </a:solidFill>
                <a:latin typeface="Georgia"/>
              </a:rPr>
              <a:t>Public commitments to affordable housing are real across all orders of government — CMHC construction capacity, Build Canada Homes capital, provincial supply targets, and municipal incentives. Intent toward equity-deserving communities has been signalled across portfolios.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74320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A2D22"/>
                </a:solidFill>
                <a:latin typeface="Georgia"/>
              </a:rPr>
              <a:t>What is missing is the platform that turns public intent into completed homes — coordinating landowners, non-profit operators, and public capital into a single, repeatable model. Ubuntu LTD is that platform, with 906 homes in the four-site Launchpad cohort breaking ground in 2026.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5166360"/>
            <a:ext cx="11155680" cy="0"/>
          </a:xfrm>
          <a:prstGeom prst="line">
            <a:avLst/>
          </a:prstGeom>
          <a:ln w="6350">
            <a:solidFill>
              <a:srgbClr val="3A2D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5,623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HOMES IN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ENTITLED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906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LAUNCHPAD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~$3.8B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EST. PIPELINE DEV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  ·  PLATFORM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095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02 / 05                UBT-26-001-BRF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02  ·  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The Common Ground Initiative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one mechanic, every 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Land contributed as equity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A private landowner contributes an entitled site into a project-level SPV as preferred-equity contribution — not a sale, not a donation.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Non-profit owns the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A mission-aligned non-profit operator owns the building entity from day one of occupancy. No upfront capital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CMHC + BCH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Construction financed on institution-grade terms through CMHC and Build Canada Homes, supported by provincial and municipal incentives where applicable.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Year-20 land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Mortgage paydown plus retained equity fund the landowner's exit. The non-profit acquires the land fee-simple.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5349240"/>
            <a:ext cx="11155680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532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D4A04A"/>
                </a:solidFill>
                <a:latin typeface="Georgia"/>
              </a:rPr>
              <a:t>"Land contributed as equity is land that carries the math."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  ·  PLATFORM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095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03 / 05                UBT-26-001-BRF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03  · 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Already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Capital can scale what's working.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5,623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HOMES IN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ENTITLED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906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LAUNCHPAD · 2026 GROUND-BREAK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~$3.8B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EST. PIPELINE DEV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LAUNCHPAD COHORT  ·  4 SITES  ·  906 HOMES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4727448"/>
            <a:ext cx="5486400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48188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844 Veterans Drive  ·  Barrie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818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Ground-oriented townhomes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800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0293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Main Street  ·  Listowel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2029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Seniors residence · 88 beds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1846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8698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Grahams Lane  ·  Burlington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5869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High-rise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5686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744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71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27 Blake Street  ·  Toronto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971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Mid-rise urban rental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9527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GOVERNANCE  ·  BLACK-LED BOARD &amp; EXECUTIVE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4727448"/>
            <a:ext cx="5486400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0" y="481888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Kemi Jacobs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84174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Director  ·  30+ yrs housing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480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Amanuel Melles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1709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Director  ·  ED, NABC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7725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Nadine Miller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550011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Director  ·  ED, Pilgrim's Feast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8064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Kizito Musabimana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58293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CEO  ·  Founder, RCHC / ACAH Village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13562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Jonathan Okubay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615848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Managing Director  ·  Platform architect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72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SOURCE  ·  UBUNTU LTD PIPELINE LEDGER  ·  MAY 2026  ·  AUDITED INTERNALLY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  ·  PLATFORM BRIEFING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4095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04 / 05                UBT-26-001-BRF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4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02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D4A04A"/>
                </a:solidFill>
                <a:latin typeface="Consolas"/>
              </a:rPr>
              <a:t>—  WHAT WE NEED FROM YOU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Advocacy within your circles.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BDFC4"/>
                </a:solidFill>
                <a:latin typeface="Georgia"/>
              </a:rPr>
              <a:t>Speak to the inclusion of Black-led housing platforms as a named category in equity-deserving capital allocations. Ubuntu LTD does not seek a carve-out; we seek explicit visibility in the lens.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Collaboration with local members, ministers and senior leadership at CMHC.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BDFC4"/>
                </a:solidFill>
                <a:latin typeface="Georgia"/>
              </a:rPr>
              <a:t>A 30-minute briefing on the Common Ground mechanic and the Launchpad cohort. The purpose is alignment, not a funding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Opportunities for further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BDFC4"/>
                </a:solidFill>
                <a:latin typeface="Georgia"/>
              </a:rPr>
              <a:t>If there is a committee, working group, or caucus hearing housing-delivery evidence, Ubuntu LTD is prepared with substantive material on the four-step model and the 2026 Launchpad delivery.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4983480"/>
            <a:ext cx="8503920" cy="0"/>
          </a:xfrm>
          <a:prstGeom prst="line">
            <a:avLst/>
          </a:prstGeom>
          <a:ln w="6350">
            <a:solidFill>
              <a:srgbClr val="EBD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1663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EBDFC4"/>
                </a:solidFill>
                <a:latin typeface="Georgia"/>
              </a:rPr>
              <a:t>Ubuntu LTD is built to operate within the housing apparatus,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D4A04A"/>
                </a:solidFill>
                <a:latin typeface="Georgia"/>
              </a:rPr>
              <a:t>not adjacent to it. Your advocacy turns capacity into homes faster.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9893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EBDFC4"/>
                </a:solidFill>
                <a:latin typeface="Georgia"/>
              </a:rPr>
              <a:t>Ubuntu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INFO@UBUNTULTD.COM     ·     UBUNTULTD.COM     ·     TORONTO,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D4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