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UBUNTU LTD  ·  COMMON GROUND INITIATIVE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0" i="0">
                <a:solidFill>
                  <a:srgbClr val="EBDFC4"/>
                </a:solidFill>
                <a:latin typeface="Georgia"/>
              </a:rPr>
              <a:t>Ubuntu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358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D4A04A"/>
                </a:solidFill>
                <a:latin typeface="Consolas"/>
              </a:rPr>
              <a:t>LAND TRUST &amp; DEVELOPMENTS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3703320"/>
            <a:ext cx="6858000" cy="0"/>
          </a:xfrm>
          <a:prstGeom prst="line">
            <a:avLst/>
          </a:prstGeom>
          <a:ln w="9525">
            <a:solidFill>
              <a:srgbClr val="EBD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9319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EBDFC4"/>
                </a:solidFill>
                <a:latin typeface="Georgia"/>
              </a:rPr>
              <a:t>A Black-led housing platform,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348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1">
                <a:solidFill>
                  <a:srgbClr val="D4A04A"/>
                </a:solidFill>
                <a:latin typeface="Georgia"/>
              </a:rPr>
              <a:t>ready for federal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D4A04A"/>
                </a:solidFill>
                <a:latin typeface="Consolas"/>
              </a:rPr>
              <a:t>PRESENTED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BDFC4"/>
                </a:solidFill>
                <a:latin typeface="Georgia"/>
              </a:rPr>
              <a:t>The Black Canada Caucus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43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EBDFC4"/>
                </a:solidFill>
                <a:latin typeface="Georgia"/>
              </a:rPr>
              <a:t>Parliament of Canada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5532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D4A04A"/>
                </a:solidFill>
                <a:latin typeface="Consolas"/>
              </a:rPr>
              <a:t>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5760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BDFC4"/>
                </a:solidFill>
                <a:latin typeface="Consolas"/>
              </a:rPr>
              <a:t>[YYYY-MM-DD]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5943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EBDFC4"/>
                </a:solidFill>
                <a:latin typeface="Consolas"/>
              </a:rPr>
              <a:t>v1.0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532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D4A04A"/>
                </a:solidFill>
                <a:latin typeface="Consolas"/>
              </a:rPr>
              <a:t>PRESENTED 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7607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EBDFC4"/>
                </a:solidFill>
                <a:latin typeface="Georgia"/>
              </a:rPr>
              <a:t>Kizito Musabimana  ·  CEO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5943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EBDFC4"/>
                </a:solidFill>
                <a:latin typeface="Georgia"/>
              </a:rPr>
              <a:t>Jonathan Okubay  ·  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EBDFC4"/>
                </a:solidFill>
                <a:latin typeface="Consolas"/>
              </a:rPr>
              <a:t>5,623 HOMES  ·  21 ENTITLED SITES  ·  906-HOME LAUNCHPAD COHORT  ·  2026 GROUND-BREAK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D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01  · 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The federal housing commitment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Black-led infrastructure to 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303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3A2D22"/>
                </a:solidFill>
                <a:latin typeface="Georgia"/>
              </a:rPr>
              <a:t>Build Canada Homes is the largest federal housing programme in a generation. CMHC's capacity is real, the capital is committed, and federal intent toward equity-deserving communities has been signalled across portfolios.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743200"/>
            <a:ext cx="5303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3A2D22"/>
                </a:solidFill>
                <a:latin typeface="Georgia"/>
              </a:rPr>
              <a:t>What is missing is the Black-led delivery infrastructure that turns federal intent into completed homes. Ubuntu LTD is that platform — Black-led, governance-tested, with 906 homes in the four-site Launchpad cohort breaking ground in 2026.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5166360"/>
            <a:ext cx="11155680" cy="0"/>
          </a:xfrm>
          <a:prstGeom prst="line">
            <a:avLst/>
          </a:prstGeom>
          <a:ln w="6350">
            <a:solidFill>
              <a:srgbClr val="3A2D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53492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5,623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978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HOMES IN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3492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8978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ENTITLED SITES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3492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906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8978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LAUNCHPAD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3492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~$3.5B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58978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EST. PIPELINE DEV COST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UBUNTU LTD  ·  COMMON GROUND INITIATIVE  ·  BCC BRIEFING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095" y="64739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02 / 05                UBT-26-001-BCC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D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02  ·  THE MECHANIC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The Common Ground Initiative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one mechanic, every site.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788920"/>
            <a:ext cx="6350" cy="233172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5468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61210"/>
                </a:solidFill>
                <a:latin typeface="Georgia"/>
              </a:rPr>
              <a:t>Land contributed as equity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33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3A2D22"/>
                </a:solidFill>
                <a:latin typeface="Georgia"/>
              </a:rPr>
              <a:t>A private landowner contributes an entitled site into a project-level SPV as preferred-equity contribution — not a sale, not a donation.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4992" y="2788920"/>
            <a:ext cx="6350" cy="233172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5468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61210"/>
                </a:solidFill>
                <a:latin typeface="Georgia"/>
              </a:rPr>
              <a:t>Non-profit owns the building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40233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3A2D22"/>
                </a:solidFill>
                <a:latin typeface="Georgia"/>
              </a:rPr>
              <a:t>A mission-aligned non-profit operator owns the building entity from day one of occupancy. No upfront capital 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7064" y="2788920"/>
            <a:ext cx="6350" cy="233172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315468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61210"/>
                </a:solidFill>
                <a:latin typeface="Georgia"/>
              </a:rPr>
              <a:t>CMHC + BCH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40233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3A2D22"/>
                </a:solidFill>
                <a:latin typeface="Georgia"/>
              </a:rPr>
              <a:t>Construction financed on institution-grade terms through CMHC and Build Canada Homes.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9136" y="2788920"/>
            <a:ext cx="6350" cy="233172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2016" y="315468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161210"/>
                </a:solidFill>
                <a:latin typeface="Georgia"/>
              </a:rPr>
              <a:t>Year-20 land purchase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0233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3A2D22"/>
                </a:solidFill>
                <a:latin typeface="Georgia"/>
              </a:rPr>
              <a:t>Mortgage paydown plus retained equity fund the landowner's exit. The non-profit acquires the land fee-simple.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5349240"/>
            <a:ext cx="11155680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5532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i="1">
                <a:solidFill>
                  <a:srgbClr val="D4A04A"/>
                </a:solidFill>
                <a:latin typeface="Georgia"/>
              </a:rPr>
              <a:t>"Land contributed as equity is land that carries the math."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UBUNTU LTD  ·  COMMON GROUND INITIATIVE  ·  BCC BRIEFING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4095" y="64739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03 / 05                UBT-26-001-BCC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D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4A04A"/>
                </a:solidFill>
                <a:latin typeface="Consolas"/>
              </a:rPr>
              <a:t>03  · 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61210"/>
                </a:solidFill>
                <a:latin typeface="Georgia"/>
              </a:rPr>
              <a:t>Already moving.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Federal capital can scale what's working.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697480"/>
            <a:ext cx="6350" cy="128016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 i="0">
                <a:solidFill>
                  <a:srgbClr val="161210"/>
                </a:solidFill>
                <a:latin typeface="Georgia"/>
              </a:rPr>
              <a:t>5,623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HOMES IN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2697480"/>
            <a:ext cx="6350" cy="128016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6060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 i="0">
                <a:solidFill>
                  <a:srgbClr val="161210"/>
                </a:solidFill>
                <a:latin typeface="Georgia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6576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ENTITLED SITES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697480"/>
            <a:ext cx="6350" cy="128016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 i="0">
                <a:solidFill>
                  <a:srgbClr val="161210"/>
                </a:solidFill>
                <a:latin typeface="Georgia"/>
              </a:rPr>
              <a:t>906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576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LAUNCHPAD · 2026 GROUND-BREAK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2697480"/>
            <a:ext cx="6350" cy="1280160"/>
          </a:xfrm>
          <a:prstGeom prst="rect">
            <a:avLst/>
          </a:prstGeom>
          <a:solidFill>
            <a:srgbClr val="3A2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6060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 i="0">
                <a:solidFill>
                  <a:srgbClr val="161210"/>
                </a:solidFill>
                <a:latin typeface="Georgia"/>
              </a:rPr>
              <a:t>~$3.5B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6576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A2D22"/>
                </a:solidFill>
                <a:latin typeface="Consolas"/>
              </a:rPr>
              <a:t>EST. PIPELINE DEV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348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D4A04A"/>
                </a:solidFill>
                <a:latin typeface="Consolas"/>
              </a:rPr>
              <a:t>LAUNCHPAD COHORT  ·  4 SITES  ·  906 HOMES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4727448"/>
            <a:ext cx="5486400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920" y="481888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61210"/>
                </a:solidFill>
                <a:latin typeface="Georgia"/>
              </a:rPr>
              <a:t>844 Veterans Drive  ·  Barrie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818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Ground-oriented townhomes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800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A14A23"/>
                </a:solidFill>
                <a:latin typeface="Consolas"/>
              </a:rPr>
              <a:t>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0293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61210"/>
                </a:solidFill>
                <a:latin typeface="Georgia"/>
              </a:rPr>
              <a:t>Main Street  ·  Listowel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5202936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Seniors residence · 88 beds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51846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A14A23"/>
                </a:solidFill>
                <a:latin typeface="Consolas"/>
              </a:rPr>
              <a:t>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86984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61210"/>
                </a:solidFill>
                <a:latin typeface="Georgia"/>
              </a:rPr>
              <a:t>Grahams Lane  ·  Burlington 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558698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High-rise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55686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A14A23"/>
                </a:solidFill>
                <a:latin typeface="Consolas"/>
              </a:rPr>
              <a:t>744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971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61210"/>
                </a:solidFill>
                <a:latin typeface="Georgia"/>
              </a:rPr>
              <a:t>27 Blake Street  ·  Toronto 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59710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Mid-rise urban rental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59527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A14A23"/>
                </a:solidFill>
                <a:latin typeface="Consolas"/>
              </a:rP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348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D4A04A"/>
                </a:solidFill>
                <a:latin typeface="Consolas"/>
              </a:rPr>
              <a:t>GOVERNANCE  ·  BLACK-LED BOARD &amp; EXECUTIVE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00800" y="4727448"/>
            <a:ext cx="5486400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00800" y="481888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Kemi Jacobs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2520" y="484174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Director  ·  30+ yrs housing systems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4807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Amanuel Melles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51709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Director  ·  ED, NABC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77256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Nadine Miller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32520" y="5500116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Director  ·  ED, Pilgrim's Feast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8064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Kizito Musabimana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32520" y="582930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CEO  ·  Founder, RCHC / ACAH Village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6135624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61210"/>
                </a:solidFill>
                <a:latin typeface="Georgia"/>
              </a:rPr>
              <a:t>Jonathan Okubay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32520" y="6158484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A2D22"/>
                </a:solidFill>
                <a:latin typeface="Consolas"/>
              </a:rPr>
              <a:t>Managing Director  ·  Platform architect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172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SOURCE  ·  UBUNTU LTD PIPELINE LEDGER  ·  MAY 2026  ·  AUDITED INTERNALLY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6350">
            <a:solidFill>
              <a:srgbClr val="1612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UBUNTU LTD  ·  COMMON GROUND INITIATIVE  ·  BCC BRIEFING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34095" y="64739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750" b="0" i="0">
                <a:solidFill>
                  <a:srgbClr val="3A2D22"/>
                </a:solidFill>
                <a:latin typeface="Consolas"/>
              </a:rPr>
              <a:t>04 / 05                UBT-26-001-BCC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4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50292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D4A04A"/>
                </a:solidFill>
                <a:latin typeface="Consolas"/>
              </a:rPr>
              <a:t>—  WHAT WE'D ASK OF THE CAUCUS 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280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1">
                <a:solidFill>
                  <a:srgbClr val="EBDFC4"/>
                </a:solidFill>
                <a:latin typeface="Georgia"/>
              </a:rPr>
              <a:t>Advocacy within your parties.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7373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EBDFC4"/>
                </a:solidFill>
                <a:latin typeface="Georgia"/>
              </a:rPr>
              <a:t>Speak to the inclusion of Black-led housing platforms as a named category in Build Canada Homes' equity-deserving allocations. Ubuntu LTD does not seek a carve-out; we seek explicit visibility in the lens.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68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1">
                <a:solidFill>
                  <a:srgbClr val="EBDFC4"/>
                </a:solidFill>
                <a:latin typeface="Georgia"/>
              </a:rPr>
              <a:t>Introductions to the Minister of Housing and CMHC senior leadership.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926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EBDFC4"/>
                </a:solidFill>
                <a:latin typeface="Georgia"/>
              </a:rPr>
              <a:t>A 30-minute briefing on the Common Ground mechanic and the Launchpad cohort. The purpose is alignment, not a funding request.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1">
                <a:solidFill>
                  <a:srgbClr val="D4A04A"/>
                </a:solidFill>
                <a:latin typeface="Georgia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657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1">
                <a:solidFill>
                  <a:srgbClr val="EBDFC4"/>
                </a:solidFill>
                <a:latin typeface="Georgia"/>
              </a:rPr>
              <a:t>Standing committee opportunities.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114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EBDFC4"/>
                </a:solidFill>
                <a:latin typeface="Georgia"/>
              </a:rPr>
              <a:t>If HUMA, the Senate Committee on Social Affairs, or any caucus working group is hearing housing-delivery testimony, Ubuntu LTD is prepared with substantive evidence on the four-step model and the 2026 Launchpad delivery.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4983480"/>
            <a:ext cx="8503920" cy="0"/>
          </a:xfrm>
          <a:prstGeom prst="line">
            <a:avLst/>
          </a:prstGeom>
          <a:ln w="6350">
            <a:solidFill>
              <a:srgbClr val="EBD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516636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EBDFC4"/>
                </a:solidFill>
                <a:latin typeface="Georgia"/>
              </a:rPr>
              <a:t>Ubuntu LTD is built to operate within the federal housing apparatus,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406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D4A04A"/>
                </a:solidFill>
                <a:latin typeface="Georgia"/>
              </a:rPr>
              <a:t>not adjacent to it. The Caucus's advocacy is the bridge.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98932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 i="0">
                <a:solidFill>
                  <a:srgbClr val="EBDFC4"/>
                </a:solidFill>
                <a:latin typeface="Georgia"/>
              </a:rPr>
              <a:t>Ubuntu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40080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D4A04A"/>
                </a:solidFill>
                <a:latin typeface="Consolas"/>
              </a:rPr>
              <a:t>INFO@UBUNTULTD.COM     ·     UBUNTULTD.COM     ·     TORONTO, 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D4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